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6858000" cx="12192000"/>
  <p:notesSz cx="6858000" cy="9144000"/>
  <p:embeddedFontLst>
    <p:embeddedFont>
      <p:font typeface="Quattrocento Sans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gAd6EoEHenbUBnrqndiQcoFIOd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267038A-327A-42F9-987E-64D408A2C84A}">
  <a:tblStyle styleId="{2267038A-327A-42F9-987E-64D408A2C84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QuattrocentoSans-bold.fntdata"/><Relationship Id="rId41" Type="http://schemas.openxmlformats.org/officeDocument/2006/relationships/font" Target="fonts/QuattrocentoSans-regular.fntdata"/><Relationship Id="rId22" Type="http://schemas.openxmlformats.org/officeDocument/2006/relationships/slide" Target="slides/slide16.xml"/><Relationship Id="rId44" Type="http://schemas.openxmlformats.org/officeDocument/2006/relationships/font" Target="fonts/QuattrocentoSans-boldItalic.fntdata"/><Relationship Id="rId21" Type="http://schemas.openxmlformats.org/officeDocument/2006/relationships/slide" Target="slides/slide15.xml"/><Relationship Id="rId43" Type="http://schemas.openxmlformats.org/officeDocument/2006/relationships/font" Target="fonts/QuattrocentoSans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0" name="Google Shape;15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7" name="Google Shape;2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8" name="Google Shape;33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2" name="Google Shape;3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8" name="Google Shape;3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9" name="Google Shape;41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6" name="Google Shape;44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268e99c3e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g3f268e99c3e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2" name="Google Shape;4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0" name="Google Shape;52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48" name="Google Shape;54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74" name="Google Shape;574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4" name="Google Shape;594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23" name="Google Shape;62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51" name="Google Shape;65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11" name="Google Shape;71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41" name="Google Shape;74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3ef89d5f8a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62" name="Google Shape;762;g3ef89d5f8a8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80" name="Google Shape;780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g3ef89d5f8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01" name="Google Shape;801;g3ef89d5f8a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4" name="Google Shape;814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35" name="Google Shape;835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6" name="Google Shape;85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4" name="Google Shape;874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f2b99631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1" name="Google Shape;891;g3f2b996310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1" name="Google Shape;92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0" name="Google Shape;950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f268e99c3e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6" name="Google Shape;966;g3f268e99c3e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11" Type="http://schemas.openxmlformats.org/officeDocument/2006/relationships/image" Target="../media/image19.jpg"/><Relationship Id="rId10" Type="http://schemas.openxmlformats.org/officeDocument/2006/relationships/image" Target="../media/image16.png"/><Relationship Id="rId9" Type="http://schemas.openxmlformats.org/officeDocument/2006/relationships/image" Target="../media/image1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jpg"/><Relationship Id="rId4" Type="http://schemas.openxmlformats.org/officeDocument/2006/relationships/image" Target="../media/image2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548640" y="914400"/>
            <a:ext cx="2743200" cy="292608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RAG-SECURITY STORY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530352" y="1463040"/>
            <a:ext cx="8412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Poisoned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Arial"/>
              <a:buNone/>
            </a:pPr>
            <a:r>
              <a:rPr b="1" i="0" lang="en-US" sz="58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Library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66928" y="32461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a few fake pages hijack an AI that reads before it answers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566928" y="3977639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—  Knowledge Corruption Attacks to Retrieval-Augmented Generation of LLMs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566928" y="437083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Paper: USENIX Security 2025 (Zou, Geng, Wang, Jia)   ·   Our contribution: RAG-Shield, a 3-ring defense (≈90% → ≈13%)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8869680" y="1234440"/>
            <a:ext cx="310896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02920" y="5029200"/>
            <a:ext cx="11183112" cy="10972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513892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550468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M.Tech AI · IIT Jodhpur   ·   CSL6010 Cyber Security   ·   Prof. Susil Kumar Mohanty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77240" y="5797296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1" lang="en-US" sz="11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 members · roster on the next slide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👥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· GROUP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Meet the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people behind PoisonedRAG · RAG-Shield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635508" y="2016252"/>
            <a:ext cx="1161288" cy="116128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jeenal.png" id="111" name="Google Shape;11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205740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"/>
          <p:cNvSpPr txBox="1"/>
          <p:nvPr/>
        </p:nvSpPr>
        <p:spPr>
          <a:xfrm>
            <a:off x="73152" y="319125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Jeenal Chaudhary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73152" y="3502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2884932" y="2016252"/>
            <a:ext cx="1161288" cy="1161288"/>
          </a:xfrm>
          <a:prstGeom prst="ellipse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rohit.png" id="115" name="Google Shape;11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6080" y="205740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"/>
          <p:cNvSpPr txBox="1"/>
          <p:nvPr/>
        </p:nvSpPr>
        <p:spPr>
          <a:xfrm>
            <a:off x="2322576" y="319125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Rohit Patel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2322576" y="3502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G25AIT2089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5134356" y="2016252"/>
            <a:ext cx="1161288" cy="116128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sharvan.png" id="119" name="Google Shape;11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75504" y="205740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"/>
          <p:cNvSpPr txBox="1"/>
          <p:nvPr/>
        </p:nvSpPr>
        <p:spPr>
          <a:xfrm>
            <a:off x="4572000" y="319125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Sharvan Vittala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4572000" y="3502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G25AIT2099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7383780" y="2016252"/>
            <a:ext cx="1161288" cy="1161288"/>
          </a:xfrm>
          <a:prstGeom prst="ellipse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sudeb.png" id="123" name="Google Shape;123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24928" y="205740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"/>
          <p:cNvSpPr txBox="1"/>
          <p:nvPr/>
        </p:nvSpPr>
        <p:spPr>
          <a:xfrm>
            <a:off x="6821424" y="319125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Sudeb Ghosh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821424" y="3502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G25AIT2113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9633204" y="2016252"/>
            <a:ext cx="1161288" cy="1161288"/>
          </a:xfrm>
          <a:prstGeom prst="ellipse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yuvaraj.png" id="127" name="Google Shape;12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74352" y="205740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"/>
          <p:cNvSpPr txBox="1"/>
          <p:nvPr/>
        </p:nvSpPr>
        <p:spPr>
          <a:xfrm>
            <a:off x="9070848" y="319125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Kosuru Yuvaraj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9070848" y="350215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G25AIT2054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1760220" y="4119372"/>
            <a:ext cx="1161288" cy="1161288"/>
          </a:xfrm>
          <a:prstGeom prst="ellipse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pujan.png" id="131" name="Google Shape;13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801368" y="416052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"/>
          <p:cNvSpPr txBox="1"/>
          <p:nvPr/>
        </p:nvSpPr>
        <p:spPr>
          <a:xfrm>
            <a:off x="1197864" y="529437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Pujan Chakraborty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197864" y="5605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G25AIT2076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4009644" y="4119372"/>
            <a:ext cx="1161288" cy="1161288"/>
          </a:xfrm>
          <a:prstGeom prst="ellipse">
            <a:avLst/>
          </a:prstGeom>
          <a:solidFill>
            <a:srgbClr val="E6A81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amit.png" id="135" name="Google Shape;135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50792" y="416052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"/>
          <p:cNvSpPr txBox="1"/>
          <p:nvPr/>
        </p:nvSpPr>
        <p:spPr>
          <a:xfrm>
            <a:off x="3447288" y="529437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Amit Singh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3447288" y="5605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E6A8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259068" y="4119372"/>
            <a:ext cx="1161288" cy="1161288"/>
          </a:xfrm>
          <a:prstGeom prst="ellipse">
            <a:avLst/>
          </a:prstGeom>
          <a:solidFill>
            <a:srgbClr val="16243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_vishnu.png" id="139" name="Google Shape;139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00216" y="4160520"/>
            <a:ext cx="1078992" cy="107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"/>
          <p:cNvSpPr txBox="1"/>
          <p:nvPr/>
        </p:nvSpPr>
        <p:spPr>
          <a:xfrm>
            <a:off x="5696712" y="529437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Vishnu Priya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5696712" y="5605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G25AIT2128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8508492" y="4119372"/>
            <a:ext cx="1161288" cy="1161288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7946136" y="529437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Disha Singhania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7946136" y="560527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G25AIT2031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7" name="Google Shape;147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49650" y="4160482"/>
            <a:ext cx="1079100" cy="10791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/>
          <p:nvPr/>
        </p:nvSpPr>
        <p:spPr>
          <a:xfrm>
            <a:off x="0" y="12533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🔄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RAG WORKS · THE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RAG Reads to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Follow one question through the pipeline — every answer flows through the retrieval channel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640080" y="21945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manuals · SOPs ·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2880360" y="21945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Chunk + embed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text → vectors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5257800" y="2148840"/>
            <a:ext cx="2057400" cy="1097280"/>
          </a:xfrm>
          <a:prstGeom prst="can">
            <a:avLst>
              <a:gd fmla="val 25000" name="adj"/>
            </a:avLst>
          </a:prstGeom>
          <a:solidFill>
            <a:srgbClr val="DDECF7"/>
          </a:solidFill>
          <a:ln cap="flat" cmpd="sng" w="254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Vector 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" name="Google Shape;162;p3"/>
          <p:cNvCxnSpPr/>
          <p:nvPr/>
        </p:nvCxnSpPr>
        <p:spPr>
          <a:xfrm>
            <a:off x="2468880" y="262890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3"/>
          <p:cNvCxnSpPr/>
          <p:nvPr/>
        </p:nvCxnSpPr>
        <p:spPr>
          <a:xfrm>
            <a:off x="4663440" y="2628900"/>
            <a:ext cx="59436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3"/>
          <p:cNvSpPr txBox="1"/>
          <p:nvPr/>
        </p:nvSpPr>
        <p:spPr>
          <a:xfrm>
            <a:off x="4526280" y="193852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40080" y="429768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"Who founded Tesla?"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2720340" y="4105656"/>
            <a:ext cx="1920240" cy="1197864"/>
          </a:xfrm>
          <a:prstGeom prst="diamond">
            <a:avLst/>
          </a:prstGeom>
          <a:solidFill>
            <a:srgbClr val="EAF1FB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4800600" y="4297680"/>
            <a:ext cx="219456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Augmented prompt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 + top-k chunks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7269480" y="4297680"/>
            <a:ext cx="1737360" cy="8686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(frozen)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9281160" y="4297680"/>
            <a:ext cx="2240280" cy="868680"/>
          </a:xfrm>
          <a:prstGeom prst="roundRect">
            <a:avLst>
              <a:gd fmla="val 16667" name="adj"/>
            </a:avLst>
          </a:prstGeom>
          <a:solidFill>
            <a:srgbClr val="E9F6EF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Grounded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cites source chunk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" name="Google Shape;170;p3"/>
          <p:cNvCxnSpPr/>
          <p:nvPr/>
        </p:nvCxnSpPr>
        <p:spPr>
          <a:xfrm>
            <a:off x="2468880" y="473202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1" name="Google Shape;171;p3"/>
          <p:cNvCxnSpPr/>
          <p:nvPr/>
        </p:nvCxnSpPr>
        <p:spPr>
          <a:xfrm>
            <a:off x="4617720" y="4704588"/>
            <a:ext cx="22860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2" name="Google Shape;172;p3"/>
          <p:cNvCxnSpPr/>
          <p:nvPr/>
        </p:nvCxnSpPr>
        <p:spPr>
          <a:xfrm>
            <a:off x="6995160" y="47320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3" name="Google Shape;173;p3"/>
          <p:cNvCxnSpPr/>
          <p:nvPr/>
        </p:nvCxnSpPr>
        <p:spPr>
          <a:xfrm>
            <a:off x="9006840" y="473202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4" name="Google Shape;174;p3"/>
          <p:cNvSpPr txBox="1"/>
          <p:nvPr/>
        </p:nvSpPr>
        <p:spPr>
          <a:xfrm>
            <a:off x="8183879" y="4059936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3"/>
          <p:cNvCxnSpPr>
            <a:stCxn id="166" idx="0"/>
            <a:endCxn id="161" idx="3"/>
          </p:cNvCxnSpPr>
          <p:nvPr/>
        </p:nvCxnSpPr>
        <p:spPr>
          <a:xfrm flipH="1" rot="10800000">
            <a:off x="3680460" y="3246156"/>
            <a:ext cx="2606100" cy="859500"/>
          </a:xfrm>
          <a:prstGeom prst="straightConnector1">
            <a:avLst/>
          </a:prstGeom>
          <a:noFill/>
          <a:ln cap="flat" cmpd="sng" w="25400">
            <a:solidFill>
              <a:srgbClr val="2B6CB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76" name="Google Shape;176;p3"/>
          <p:cNvSpPr txBox="1"/>
          <p:nvPr/>
        </p:nvSpPr>
        <p:spPr>
          <a:xfrm>
            <a:off x="3840480" y="31089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top-k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/>
          <p:nvPr/>
        </p:nvSpPr>
        <p:spPr>
          <a:xfrm>
            <a:off x="640080" y="5577840"/>
            <a:ext cx="10927080" cy="566928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lives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outside</a:t>
            </a:r>
            <a:r>
              <a:rPr b="0" i="0" lang="en-US" sz="12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the model. Whatever enters the Knowledge Base is later retrieved as trusted context — that is the door PoisonedRAG walks through.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📖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1 · THE OPEN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is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4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worked example — how RAG answers “Who founded Tesla?”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02920" y="205740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502920" y="2057400"/>
            <a:ext cx="118872" cy="2743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795528" y="231343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795528" y="297180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· You 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 txBox="1"/>
          <p:nvPr/>
        </p:nvSpPr>
        <p:spPr>
          <a:xfrm>
            <a:off x="795528" y="370332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“Who founded Tesla?”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355848" y="205740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3355848" y="2057400"/>
            <a:ext cx="118872" cy="2743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3648456" y="231343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3648456" y="297180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· Retrieve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3648456" y="370332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Pull the top matching pages from the KB — e.g. Wikipedia’s “Tesla” page.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"/>
          <p:cNvSpPr/>
          <p:nvPr/>
        </p:nvSpPr>
        <p:spPr>
          <a:xfrm>
            <a:off x="6208776" y="205740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4"/>
          <p:cNvSpPr/>
          <p:nvPr/>
        </p:nvSpPr>
        <p:spPr>
          <a:xfrm>
            <a:off x="6208776" y="2057400"/>
            <a:ext cx="118872" cy="27432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4"/>
          <p:cNvSpPr txBox="1"/>
          <p:nvPr/>
        </p:nvSpPr>
        <p:spPr>
          <a:xfrm>
            <a:off x="6501384" y="231343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📚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6501384" y="297180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· LLM reads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6501384" y="370332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model reads those real pages instead of guessing from memory.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/>
          <p:nvPr/>
        </p:nvSpPr>
        <p:spPr>
          <a:xfrm>
            <a:off x="9061704" y="205740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4"/>
          <p:cNvSpPr/>
          <p:nvPr/>
        </p:nvSpPr>
        <p:spPr>
          <a:xfrm>
            <a:off x="9061704" y="2057400"/>
            <a:ext cx="118872" cy="27432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9354312" y="231343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9354312" y="297180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 ·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9354312" y="3703320"/>
            <a:ext cx="2075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“Martin Eberhard” — grounded in a cited source.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/>
          <p:nvPr/>
        </p:nvSpPr>
        <p:spPr>
          <a:xfrm>
            <a:off x="502920" y="4983480"/>
            <a:ext cx="11183112" cy="1261872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CLOSED BOOK  vs  OPEN BOOK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777240" y="5422392"/>
            <a:ext cx="10789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Closed book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(LLM alone) answers from fuzzy memory — a common wrong guess is </a:t>
            </a:r>
            <a:r>
              <a:rPr b="0" i="1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“Elon Musk.”   </a:t>
            </a:r>
            <a:r>
              <a:rPr b="1" i="0" lang="en-US" sz="13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 book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(RAG) looks up the actual page first, so it answers correctly and can cite the source. The catch: what if someone slips a </a:t>
            </a:r>
            <a:r>
              <a:rPr b="1" i="0" lang="en-US" sz="13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page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into the book?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566928" y="62819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open book everywhere:  ChatGPT browsing · Bing Chat · customer-support bots · enterprise search · medical &amp; legal AI assistants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5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🚪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1 · THE OPEN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RAG 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knowledge base is an open door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502920" y="2148840"/>
            <a:ext cx="3575304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502920" y="2148840"/>
            <a:ext cx="118872" cy="35661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795528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795528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 is in production at scale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 txBox="1"/>
          <p:nvPr/>
        </p:nvSpPr>
        <p:spPr>
          <a:xfrm>
            <a:off x="795528" y="3794760"/>
            <a:ext cx="30266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Medical, legal, and financial AI assistants now ground answers in retrieved documents — wrong answers carry real-world cost.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4306824" y="2148840"/>
            <a:ext cx="3575304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4306824" y="2148840"/>
            <a:ext cx="118872" cy="356616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4599432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4599432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bases are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4599432" y="3794760"/>
            <a:ext cx="30266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Many KBs are crowd-sourced or auto-scraped (Wikipedia, web crawls, user uploads). Anyone may be able to add content.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8110728" y="2148840"/>
            <a:ext cx="3575304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8110728" y="2148840"/>
            <a:ext cx="118872" cy="35661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8403336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⚠️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5"/>
          <p:cNvSpPr txBox="1"/>
          <p:nvPr/>
        </p:nvSpPr>
        <p:spPr>
          <a:xfrm>
            <a:off x="8403336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Openness is the attack surface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8403336" y="3794760"/>
            <a:ext cx="3026664" cy="1783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an attacker can insert even a few documents, they may control what the AI says — this is the gap PoisonedRAG exploits.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2 · A NEW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New 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Surface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Prior work secured the model — not the knowledge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02920" y="2148840"/>
            <a:ext cx="5440680" cy="374903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02920" y="2148840"/>
            <a:ext cx="118872" cy="3749039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RESEARCHERS USED TO STUDY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6"/>
          <p:cNvSpPr txBox="1"/>
          <p:nvPr/>
        </p:nvSpPr>
        <p:spPr>
          <a:xfrm>
            <a:off x="868680" y="288036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Making RAG more accurate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868680" y="352044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Making retrieval more efficient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6"/>
          <p:cNvSpPr txBox="1"/>
          <p:nvPr/>
        </p:nvSpPr>
        <p:spPr>
          <a:xfrm>
            <a:off x="868680" y="416052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Better embeddings &amp; re-rankers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868680" y="4800600"/>
            <a:ext cx="4846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50"/>
              <a:buFont typeface="Arial"/>
              <a:buNone/>
            </a:pPr>
            <a:r>
              <a:rPr b="1" i="0" lang="en-US" sz="15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Security was largely unexplored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6245352" y="2148840"/>
            <a:ext cx="5440680" cy="3749039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245352" y="2148840"/>
            <a:ext cx="118872" cy="3749039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 txBox="1"/>
          <p:nvPr/>
        </p:nvSpPr>
        <p:spPr>
          <a:xfrm>
            <a:off x="6519672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THIS PAPER FOUND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6"/>
          <p:cNvSpPr txBox="1"/>
          <p:nvPr/>
        </p:nvSpPr>
        <p:spPr>
          <a:xfrm>
            <a:off x="6519672" y="2788920"/>
            <a:ext cx="49377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knowledge database itself is a new, practical attack surface.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 attacker who can add documents to the KB can steer the LLM's answers — without touching the model, its weights, or even needing API access.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is the FIRST knowledge-corruption attack against RAG.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6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6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🕵️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2 · THE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7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Threat Model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attacker controls, and what they want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502920" y="2115026"/>
            <a:ext cx="26244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502920" y="2103120"/>
            <a:ext cx="118872" cy="2743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795528" y="235915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7"/>
          <p:cNvSpPr txBox="1"/>
          <p:nvPr/>
        </p:nvSpPr>
        <p:spPr>
          <a:xfrm>
            <a:off x="795528" y="30175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 txBox="1"/>
          <p:nvPr/>
        </p:nvSpPr>
        <p:spPr>
          <a:xfrm>
            <a:off x="795528" y="3749040"/>
            <a:ext cx="20757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 picks a question — e.g. "Who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founded Tesla Motors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?"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355848" y="210312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3355848" y="2103120"/>
            <a:ext cx="118872" cy="2743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 txBox="1"/>
          <p:nvPr/>
        </p:nvSpPr>
        <p:spPr>
          <a:xfrm>
            <a:off x="3648456" y="2371058"/>
            <a:ext cx="2167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3648456" y="30175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7"/>
          <p:cNvSpPr txBox="1"/>
          <p:nvPr/>
        </p:nvSpPr>
        <p:spPr>
          <a:xfrm>
            <a:off x="3648456" y="3749040"/>
            <a:ext cx="20757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 picks the wrong answer they want — e.g. "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Nikola Jones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 (false).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208776" y="210312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6208776" y="2103120"/>
            <a:ext cx="118872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6501384" y="2371058"/>
            <a:ext cx="2167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7"/>
          <p:cNvSpPr txBox="1"/>
          <p:nvPr/>
        </p:nvSpPr>
        <p:spPr>
          <a:xfrm>
            <a:off x="6501384" y="30175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Inject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7"/>
          <p:cNvSpPr txBox="1"/>
          <p:nvPr/>
        </p:nvSpPr>
        <p:spPr>
          <a:xfrm>
            <a:off x="6501384" y="374904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Add a few malicious texts to the KB — just 5 docs per question.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061704" y="2103120"/>
            <a:ext cx="2624328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9061704" y="2103120"/>
            <a:ext cx="118872" cy="274320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 txBox="1"/>
          <p:nvPr/>
        </p:nvSpPr>
        <p:spPr>
          <a:xfrm>
            <a:off x="9354312" y="2371058"/>
            <a:ext cx="21672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7"/>
          <p:cNvSpPr txBox="1"/>
          <p:nvPr/>
        </p:nvSpPr>
        <p:spPr>
          <a:xfrm>
            <a:off x="9354312" y="301752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7"/>
          <p:cNvSpPr txBox="1"/>
          <p:nvPr/>
        </p:nvSpPr>
        <p:spPr>
          <a:xfrm>
            <a:off x="9354312" y="3749040"/>
            <a:ext cx="2075688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LLM outputs the attacker's answer for that target question.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7"/>
          <p:cNvSpPr txBox="1"/>
          <p:nvPr/>
        </p:nvSpPr>
        <p:spPr>
          <a:xfrm>
            <a:off x="777240" y="5413248"/>
            <a:ext cx="106071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7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7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💉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2 · THE INJECTION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8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Slipping in the Fake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a handful of poisoned documents enter the knowledge base — and resurface as trusted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48640" y="214884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🦹 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knows target Q + wrong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2788920" y="2148840"/>
            <a:ext cx="201168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Craft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fake but convincing page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212080" y="214884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Inject ≈5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edit wiki · upload · data feed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452360" y="2075688"/>
            <a:ext cx="2331720" cy="1143000"/>
          </a:xfrm>
          <a:prstGeom prst="can">
            <a:avLst>
              <a:gd fmla="val 25000" name="adj"/>
            </a:avLst>
          </a:prstGeom>
          <a:solidFill>
            <a:srgbClr val="DDECF7"/>
          </a:solidFill>
          <a:ln cap="flat" cmpd="sng" w="254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millions clean + 5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10012680" y="2258568"/>
            <a:ext cx="1463040" cy="420624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☠ </a:t>
            </a: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inside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8"/>
          <p:cNvCxnSpPr/>
          <p:nvPr/>
        </p:nvCxnSpPr>
        <p:spPr>
          <a:xfrm>
            <a:off x="2377440" y="25831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0" name="Google Shape;320;p8"/>
          <p:cNvCxnSpPr/>
          <p:nvPr/>
        </p:nvCxnSpPr>
        <p:spPr>
          <a:xfrm>
            <a:off x="4800600" y="25831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1" name="Google Shape;321;p8"/>
          <p:cNvCxnSpPr/>
          <p:nvPr/>
        </p:nvCxnSpPr>
        <p:spPr>
          <a:xfrm>
            <a:off x="7040880" y="2583180"/>
            <a:ext cx="41148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2" name="Google Shape;322;p8"/>
          <p:cNvSpPr/>
          <p:nvPr/>
        </p:nvSpPr>
        <p:spPr>
          <a:xfrm>
            <a:off x="548640" y="443484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"Who founded Tesla?"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2697480" y="4270248"/>
            <a:ext cx="1920240" cy="1197864"/>
          </a:xfrm>
          <a:prstGeom prst="diamond">
            <a:avLst/>
          </a:prstGeom>
          <a:solidFill>
            <a:srgbClr val="EAF1FB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Similarity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800600" y="4434840"/>
            <a:ext cx="2194560" cy="868680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Top-K retrieved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ranks high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7269480" y="4434840"/>
            <a:ext cx="1554480" cy="8686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 cap="flat" cmpd="sng" w="1270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(frozen)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9052560" y="4434840"/>
            <a:ext cx="2423160" cy="868680"/>
          </a:xfrm>
          <a:prstGeom prst="roundRect">
            <a:avLst>
              <a:gd fmla="val 16667" name="adj"/>
            </a:avLst>
          </a:prstGeom>
          <a:solidFill>
            <a:srgbClr val="FBE3D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Wrong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attacker's target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7" name="Google Shape;327;p8"/>
          <p:cNvCxnSpPr/>
          <p:nvPr/>
        </p:nvCxnSpPr>
        <p:spPr>
          <a:xfrm>
            <a:off x="2377440" y="486918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8" name="Google Shape;328;p8"/>
          <p:cNvCxnSpPr/>
          <p:nvPr/>
        </p:nvCxnSpPr>
        <p:spPr>
          <a:xfrm>
            <a:off x="4617720" y="4869180"/>
            <a:ext cx="18288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8"/>
          <p:cNvCxnSpPr/>
          <p:nvPr/>
        </p:nvCxnSpPr>
        <p:spPr>
          <a:xfrm>
            <a:off x="6995160" y="48691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0" name="Google Shape;330;p8"/>
          <p:cNvCxnSpPr/>
          <p:nvPr/>
        </p:nvCxnSpPr>
        <p:spPr>
          <a:xfrm>
            <a:off x="8778240" y="4869180"/>
            <a:ext cx="274320" cy="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8"/>
          <p:cNvCxnSpPr>
            <a:stCxn id="317" idx="3"/>
            <a:endCxn id="323" idx="0"/>
          </p:cNvCxnSpPr>
          <p:nvPr/>
        </p:nvCxnSpPr>
        <p:spPr>
          <a:xfrm flipH="1">
            <a:off x="3657720" y="3218688"/>
            <a:ext cx="4960500" cy="1051500"/>
          </a:xfrm>
          <a:prstGeom prst="straightConnector1">
            <a:avLst/>
          </a:prstGeom>
          <a:noFill/>
          <a:ln cap="flat" cmpd="sng" w="25400">
            <a:solidFill>
              <a:srgbClr val="C0392B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332" name="Google Shape;332;p8"/>
          <p:cNvSpPr txBox="1"/>
          <p:nvPr/>
        </p:nvSpPr>
        <p:spPr>
          <a:xfrm rot="-647768">
            <a:off x="4802211" y="3541495"/>
            <a:ext cx="2650616" cy="17192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retrieved as trusted 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8"/>
          <p:cNvSpPr/>
          <p:nvPr/>
        </p:nvSpPr>
        <p:spPr>
          <a:xfrm>
            <a:off x="502920" y="5669280"/>
            <a:ext cx="11183112" cy="54864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Just ≈5 poisoned docs among millions </a:t>
            </a:r>
            <a:r>
              <a:rPr b="0" i="0" lang="en-US" sz="12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 enough — once inside the KB, retrieval can't tell them from real pages and hands them to the LLM as fact.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8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💥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2 · THE STAKES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 This Is Dangerous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9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Real-world scenarios where KB poisoning bites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02920" y="2148840"/>
            <a:ext cx="2624328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502920" y="2148840"/>
            <a:ext cx="118872" cy="31089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 txBox="1"/>
          <p:nvPr/>
        </p:nvSpPr>
        <p:spPr>
          <a:xfrm>
            <a:off x="795528" y="240487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🏥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9"/>
          <p:cNvSpPr txBox="1"/>
          <p:nvPr/>
        </p:nvSpPr>
        <p:spPr>
          <a:xfrm>
            <a:off x="795528" y="306324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Medical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9"/>
          <p:cNvSpPr txBox="1"/>
          <p:nvPr/>
        </p:nvSpPr>
        <p:spPr>
          <a:xfrm>
            <a:off x="795528" y="3794760"/>
            <a:ext cx="20756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health KB → dangerous treatment advice to patients.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355848" y="2148840"/>
            <a:ext cx="2624328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3355848" y="2148840"/>
            <a:ext cx="118872" cy="310896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 txBox="1"/>
          <p:nvPr/>
        </p:nvSpPr>
        <p:spPr>
          <a:xfrm>
            <a:off x="3648456" y="240487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9"/>
          <p:cNvSpPr txBox="1"/>
          <p:nvPr/>
        </p:nvSpPr>
        <p:spPr>
          <a:xfrm>
            <a:off x="3648456" y="306324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Financial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9"/>
          <p:cNvSpPr txBox="1"/>
          <p:nvPr/>
        </p:nvSpPr>
        <p:spPr>
          <a:xfrm>
            <a:off x="3648456" y="3794760"/>
            <a:ext cx="20756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market KB → manipulated investment guidance.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9"/>
          <p:cNvSpPr/>
          <p:nvPr/>
        </p:nvSpPr>
        <p:spPr>
          <a:xfrm>
            <a:off x="6208776" y="2148840"/>
            <a:ext cx="2624328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208776" y="2148840"/>
            <a:ext cx="118872" cy="31089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 txBox="1"/>
          <p:nvPr/>
        </p:nvSpPr>
        <p:spPr>
          <a:xfrm>
            <a:off x="6501384" y="240487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9"/>
          <p:cNvSpPr txBox="1"/>
          <p:nvPr/>
        </p:nvSpPr>
        <p:spPr>
          <a:xfrm>
            <a:off x="6501384" y="306324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News / Search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9"/>
          <p:cNvSpPr txBox="1"/>
          <p:nvPr/>
        </p:nvSpPr>
        <p:spPr>
          <a:xfrm>
            <a:off x="6501384" y="3794760"/>
            <a:ext cx="20756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news KB → disinformation delivered at scale.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9"/>
          <p:cNvSpPr/>
          <p:nvPr/>
        </p:nvSpPr>
        <p:spPr>
          <a:xfrm>
            <a:off x="9061704" y="2148840"/>
            <a:ext cx="2624328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9061704" y="2148840"/>
            <a:ext cx="118872" cy="31089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9"/>
          <p:cNvSpPr txBox="1"/>
          <p:nvPr/>
        </p:nvSpPr>
        <p:spPr>
          <a:xfrm>
            <a:off x="9354312" y="2404872"/>
            <a:ext cx="2167128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9"/>
          <p:cNvSpPr txBox="1"/>
          <p:nvPr/>
        </p:nvSpPr>
        <p:spPr>
          <a:xfrm>
            <a:off x="9354312" y="3063240"/>
            <a:ext cx="2121408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Enterprise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 txBox="1"/>
          <p:nvPr/>
        </p:nvSpPr>
        <p:spPr>
          <a:xfrm>
            <a:off x="9354312" y="3794760"/>
            <a:ext cx="207568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internal docs → wrong answers in critical workflows.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9"/>
          <p:cNvSpPr txBox="1"/>
          <p:nvPr/>
        </p:nvSpPr>
        <p:spPr>
          <a:xfrm>
            <a:off x="566928" y="548640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KBs get poisoned:  editable wikis · scraped web data · user-uploaded documents · third-party data feeds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9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🚦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3 · TWO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Attack Works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Every poison document must pass two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502920" y="2103120"/>
            <a:ext cx="54406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02920" y="2103120"/>
            <a:ext cx="118872" cy="274320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822960" y="2377440"/>
            <a:ext cx="640080" cy="640080"/>
          </a:xfrm>
          <a:prstGeom prst="ellipse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0"/>
          <p:cNvSpPr txBox="1"/>
          <p:nvPr/>
        </p:nvSpPr>
        <p:spPr>
          <a:xfrm>
            <a:off x="1645920" y="243230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Retrieval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0"/>
          <p:cNvSpPr txBox="1"/>
          <p:nvPr/>
        </p:nvSpPr>
        <p:spPr>
          <a:xfrm>
            <a:off x="868680" y="32918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poison doc must be similar enough to the target question to get pulled into the top-K retrieved documents.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0"/>
          <p:cNvSpPr txBox="1"/>
          <p:nvPr/>
        </p:nvSpPr>
        <p:spPr>
          <a:xfrm>
            <a:off x="868680" y="43434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it isn't retrieved, it never reaches the LLM.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0"/>
          <p:cNvSpPr/>
          <p:nvPr/>
        </p:nvSpPr>
        <p:spPr>
          <a:xfrm>
            <a:off x="6263640" y="2103120"/>
            <a:ext cx="54406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263640" y="2103120"/>
            <a:ext cx="118872" cy="2743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0"/>
          <p:cNvSpPr/>
          <p:nvPr/>
        </p:nvSpPr>
        <p:spPr>
          <a:xfrm>
            <a:off x="6583680" y="2377440"/>
            <a:ext cx="640080" cy="64008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0"/>
          <p:cNvSpPr txBox="1"/>
          <p:nvPr/>
        </p:nvSpPr>
        <p:spPr>
          <a:xfrm>
            <a:off x="7406640" y="2432304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Generation Condition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0"/>
          <p:cNvSpPr txBox="1"/>
          <p:nvPr/>
        </p:nvSpPr>
        <p:spPr>
          <a:xfrm>
            <a:off x="6629400" y="3291840"/>
            <a:ext cx="47548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Once retrieved, the poison doc must convince the LLM to actually output the attacker's chosen wrong answer.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 txBox="1"/>
          <p:nvPr/>
        </p:nvSpPr>
        <p:spPr>
          <a:xfrm>
            <a:off x="6629400" y="43434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1" lang="en-US" sz="12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If it doesn't mislead the LLM, the attack fails.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Both must hold at once.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Retrieved but not misleading = harmless.  Misleading but never retrieved = useless.  The craft is satisfying both simultaneously.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0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0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🐴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3 · THE TROJAN HORSE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Decomposition Trick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 each poison doc into two purpose-built halves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1"/>
          <p:cNvSpPr txBox="1"/>
          <p:nvPr/>
        </p:nvSpPr>
        <p:spPr>
          <a:xfrm>
            <a:off x="664899" y="2103120"/>
            <a:ext cx="10972800" cy="4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</a:t>
            </a:r>
            <a:r>
              <a:rPr b="0" i="0" lang="en-US" sz="26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=  </a:t>
            </a:r>
            <a:r>
              <a:rPr b="1" i="0" lang="en-US" sz="30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</a:t>
            </a:r>
            <a:r>
              <a:rPr b="0" i="0" lang="en-US" sz="1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(retrieval trigger)   </a:t>
            </a:r>
            <a:r>
              <a:rPr b="0" i="0" lang="en-US" sz="26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+  </a:t>
            </a:r>
            <a:r>
              <a:rPr b="1" i="0" lang="en-US" sz="30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r>
              <a:rPr b="0" i="0" lang="en-US" sz="1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(injection text)   (</a:t>
            </a:r>
            <a:r>
              <a:rPr b="1" i="0" lang="en-US" sz="18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where p is poisoned document</a:t>
            </a:r>
            <a:r>
              <a:rPr b="1" i="0" lang="en-US" sz="18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1" i="0" sz="1800" u="none" cap="none" strike="noStrike">
              <a:solidFill>
                <a:srgbClr val="6B728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02920" y="2926080"/>
            <a:ext cx="5486400" cy="2468880"/>
          </a:xfrm>
          <a:prstGeom prst="roundRect">
            <a:avLst>
              <a:gd fmla="val 16667" name="adj"/>
            </a:avLst>
          </a:prstGeom>
          <a:solidFill>
            <a:srgbClr val="EAF1FB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 txBox="1"/>
          <p:nvPr/>
        </p:nvSpPr>
        <p:spPr>
          <a:xfrm>
            <a:off x="777240" y="3108960"/>
            <a:ext cx="4937760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= THE DISGUISE (Semantic/Search trigger)</a:t>
            </a:r>
            <a:endParaRPr b="1" i="0" sz="1700" u="none" cap="none" strike="noStrike">
              <a:solidFill>
                <a:srgbClr val="2B6CB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0" name="Google Shape;410;p11"/>
          <p:cNvSpPr txBox="1"/>
          <p:nvPr/>
        </p:nvSpPr>
        <p:spPr>
          <a:xfrm>
            <a:off x="777240" y="361188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Crafted to match the target question semantically, so the retriever pulls the doc into the top-K. Solves the retrieval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6199632" y="2926080"/>
            <a:ext cx="5486400" cy="2468880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 txBox="1"/>
          <p:nvPr/>
        </p:nvSpPr>
        <p:spPr>
          <a:xfrm>
            <a:off x="6565392" y="3108960"/>
            <a:ext cx="4937760" cy="28725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 = THE PAYLOAD (Injection text)</a:t>
            </a:r>
            <a:endParaRPr b="1" i="0" sz="1700" u="none" cap="none" strike="noStrike">
              <a:solidFill>
                <a:srgbClr val="C0392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13" name="Google Shape;413;p11"/>
          <p:cNvSpPr txBox="1"/>
          <p:nvPr/>
        </p:nvSpPr>
        <p:spPr>
          <a:xfrm>
            <a:off x="6473952" y="3611880"/>
            <a:ext cx="5029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Contains the misinformation that pushes the LLM toward the attacker's answer. Solves the generation condition.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502920" y="5532120"/>
            <a:ext cx="11183112" cy="6400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🐴  Trojan-horse analogy: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 is the disguise that gets the horse through the gate (retrieval); I is the soldier hiding inside that does the damage (generation).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🧪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3 · CRAFTING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2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Crafting the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2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Crafting poison is a search for the best malicious texts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2"/>
          <p:cNvSpPr/>
          <p:nvPr/>
        </p:nvSpPr>
        <p:spPr>
          <a:xfrm>
            <a:off x="502920" y="2103120"/>
            <a:ext cx="11183112" cy="105156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 txBox="1"/>
          <p:nvPr/>
        </p:nvSpPr>
        <p:spPr>
          <a:xfrm>
            <a:off x="777240" y="221284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GOAL, FORMALLY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2"/>
          <p:cNvSpPr txBox="1"/>
          <p:nvPr/>
        </p:nvSpPr>
        <p:spPr>
          <a:xfrm>
            <a:off x="777240" y="2542032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 a set of malicious texts that maximizes the chance the LLM outputs the target answer for the target question — subject to those texts being retrievable.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2"/>
          <p:cNvSpPr/>
          <p:nvPr/>
        </p:nvSpPr>
        <p:spPr>
          <a:xfrm>
            <a:off x="502920" y="3383280"/>
            <a:ext cx="544068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2"/>
          <p:cNvSpPr txBox="1"/>
          <p:nvPr/>
        </p:nvSpPr>
        <p:spPr>
          <a:xfrm>
            <a:off x="777240" y="3566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BLACK-BOX 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2"/>
          <p:cNvSpPr txBox="1"/>
          <p:nvPr/>
        </p:nvSpPr>
        <p:spPr>
          <a:xfrm>
            <a:off x="868680" y="40690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 knows only the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2"/>
          <p:cNvSpPr txBox="1"/>
          <p:nvPr/>
        </p:nvSpPr>
        <p:spPr>
          <a:xfrm>
            <a:off x="868680" y="4526280"/>
            <a:ext cx="4937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2"/>
          <p:cNvSpPr txBox="1"/>
          <p:nvPr/>
        </p:nvSpPr>
        <p:spPr>
          <a:xfrm>
            <a:off x="868680" y="4983480"/>
            <a:ext cx="49377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lang="en-US" sz="13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Uses an LLM to generate poison text directly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300">
              <a:solidFill>
                <a:srgbClr val="222A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436" name="Google Shape;436;p12"/>
          <p:cNvSpPr txBox="1"/>
          <p:nvPr/>
        </p:nvSpPr>
        <p:spPr>
          <a:xfrm>
            <a:off x="868680" y="5440680"/>
            <a:ext cx="4937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2"/>
          <p:cNvSpPr/>
          <p:nvPr/>
        </p:nvSpPr>
        <p:spPr>
          <a:xfrm>
            <a:off x="6245352" y="3383280"/>
            <a:ext cx="5440680" cy="2606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2"/>
          <p:cNvSpPr txBox="1"/>
          <p:nvPr/>
        </p:nvSpPr>
        <p:spPr>
          <a:xfrm>
            <a:off x="6519672" y="356616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WHITE-BOX 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2"/>
          <p:cNvSpPr txBox="1"/>
          <p:nvPr/>
        </p:nvSpPr>
        <p:spPr>
          <a:xfrm>
            <a:off x="6611112" y="40690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 also knows retriever weights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 txBox="1"/>
          <p:nvPr/>
        </p:nvSpPr>
        <p:spPr>
          <a:xfrm>
            <a:off x="6611112" y="498348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Higher success, but needs more access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6611112" y="5440680"/>
            <a:ext cx="4937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🙈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3 · THE REALISTIC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3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Black-Box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13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3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realistic threat — no inside knowledge needed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3"/>
          <p:cNvSpPr/>
          <p:nvPr/>
        </p:nvSpPr>
        <p:spPr>
          <a:xfrm>
            <a:off x="502920" y="2103120"/>
            <a:ext cx="11183112" cy="123444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3"/>
          <p:cNvSpPr txBox="1"/>
          <p:nvPr/>
        </p:nvSpPr>
        <p:spPr>
          <a:xfrm>
            <a:off x="777240" y="2212848"/>
            <a:ext cx="1060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SETUP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 txBox="1"/>
          <p:nvPr/>
        </p:nvSpPr>
        <p:spPr>
          <a:xfrm>
            <a:off x="777240" y="2542032"/>
            <a:ext cx="10607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attacker knows only the target question — nothing about the retriever, embeddings, or the LLM internals. This mirrors a real attacker who can edit a wiki or upload a document.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/>
          <p:nvPr/>
        </p:nvSpPr>
        <p:spPr>
          <a:xfrm>
            <a:off x="502920" y="3566160"/>
            <a:ext cx="11183112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3"/>
          <p:cNvSpPr txBox="1"/>
          <p:nvPr/>
        </p:nvSpPr>
        <p:spPr>
          <a:xfrm>
            <a:off x="777240" y="3749039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THE POISON IS GENERATED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868680" y="4206240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Take the target question + the attacker's chosen wrong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868680" y="4544568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 an LLM: "Write a passage that supports this answer for this question"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868680" y="4882896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LLM produces fluent, authoritative-sounding misinformation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13"/>
          <p:cNvSpPr txBox="1"/>
          <p:nvPr/>
        </p:nvSpPr>
        <p:spPr>
          <a:xfrm>
            <a:off x="868680" y="5221224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Include the question's keywords verbatim so it gets retrieved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3"/>
          <p:cNvSpPr txBox="1"/>
          <p:nvPr/>
        </p:nvSpPr>
        <p:spPr>
          <a:xfrm>
            <a:off x="868680" y="5559552"/>
            <a:ext cx="10607040" cy="3383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Inject ~5 of these per target question into the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3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f268e99c3e_0_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g3f268e99c3e_0_28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g3f268e99c3e_0_28"/>
          <p:cNvSpPr/>
          <p:nvPr/>
        </p:nvSpPr>
        <p:spPr>
          <a:xfrm>
            <a:off x="0" y="6775704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g3f268e99c3e_0_28"/>
          <p:cNvSpPr txBox="1"/>
          <p:nvPr/>
        </p:nvSpPr>
        <p:spPr>
          <a:xfrm>
            <a:off x="548640" y="310896"/>
            <a:ext cx="10515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👁️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3 · THE UPPER BOUND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f268e99c3e_0_28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White-Box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f268e99c3e_0_28"/>
          <p:cNvSpPr/>
          <p:nvPr/>
        </p:nvSpPr>
        <p:spPr>
          <a:xfrm>
            <a:off x="566928" y="1371600"/>
            <a:ext cx="640200" cy="507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g3f268e99c3e_0_28"/>
          <p:cNvSpPr txBox="1"/>
          <p:nvPr/>
        </p:nvSpPr>
        <p:spPr>
          <a:xfrm>
            <a:off x="566928" y="1481328"/>
            <a:ext cx="1078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Stronger access → optimized retrieval triggers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g3f268e99c3e_0_28"/>
          <p:cNvSpPr/>
          <p:nvPr/>
        </p:nvSpPr>
        <p:spPr>
          <a:xfrm>
            <a:off x="502920" y="2148840"/>
            <a:ext cx="5440800" cy="3657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g3f268e99c3e_0_28"/>
          <p:cNvSpPr txBox="1"/>
          <p:nvPr/>
        </p:nvSpPr>
        <p:spPr>
          <a:xfrm>
            <a:off x="777240" y="2331720"/>
            <a:ext cx="49377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CHANGES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g3f268e99c3e_0_28"/>
          <p:cNvSpPr txBox="1"/>
          <p:nvPr/>
        </p:nvSpPr>
        <p:spPr>
          <a:xfrm>
            <a:off x="868680" y="2880360"/>
            <a:ext cx="4937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Attacker also knows the retriever's embedding model + weights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g3f268e99c3e_0_28"/>
          <p:cNvSpPr txBox="1"/>
          <p:nvPr/>
        </p:nvSpPr>
        <p:spPr>
          <a:xfrm>
            <a:off x="868680" y="3657600"/>
            <a:ext cx="4937700" cy="495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Uses gradient-based optimization (HotFlip-style) to perfect the trigger 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g3f268e99c3e_0_28"/>
          <p:cNvSpPr txBox="1"/>
          <p:nvPr/>
        </p:nvSpPr>
        <p:spPr>
          <a:xfrm>
            <a:off x="868680" y="4434840"/>
            <a:ext cx="4937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Tunes the doc to land as high as possible in the top-K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g3f268e99c3e_0_28"/>
          <p:cNvSpPr/>
          <p:nvPr/>
        </p:nvSpPr>
        <p:spPr>
          <a:xfrm>
            <a:off x="6245352" y="2148840"/>
            <a:ext cx="5440800" cy="3657600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g3f268e99c3e_0_28"/>
          <p:cNvSpPr txBox="1"/>
          <p:nvPr/>
        </p:nvSpPr>
        <p:spPr>
          <a:xfrm>
            <a:off x="6519672" y="2331720"/>
            <a:ext cx="4937700" cy="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TRADE-OFF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f268e99c3e_0_28"/>
          <p:cNvSpPr txBox="1"/>
          <p:nvPr/>
        </p:nvSpPr>
        <p:spPr>
          <a:xfrm>
            <a:off x="6611112" y="2880360"/>
            <a:ext cx="4937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Slightly higher success rate than black-box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g3f268e99c3e_0_28"/>
          <p:cNvSpPr txBox="1"/>
          <p:nvPr/>
        </p:nvSpPr>
        <p:spPr>
          <a:xfrm>
            <a:off x="6611112" y="3657600"/>
            <a:ext cx="4937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But requires far more access (unrealistic in practice)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g3f268e99c3e_0_28"/>
          <p:cNvSpPr txBox="1"/>
          <p:nvPr/>
        </p:nvSpPr>
        <p:spPr>
          <a:xfrm>
            <a:off x="6611112" y="4434840"/>
            <a:ext cx="49377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4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Mainly shows the upper bound of how bad it can 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g3f268e99c3e_0_28"/>
          <p:cNvSpPr txBox="1"/>
          <p:nvPr/>
        </p:nvSpPr>
        <p:spPr>
          <a:xfrm>
            <a:off x="502920" y="6437376"/>
            <a:ext cx="914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g3f268e99c3e_0_28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5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4 · THE DAMAGE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5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Headline 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5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5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Tiny attack surface, devastating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5"/>
          <p:cNvSpPr/>
          <p:nvPr/>
        </p:nvSpPr>
        <p:spPr>
          <a:xfrm>
            <a:off x="502920" y="214884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5"/>
          <p:cNvSpPr/>
          <p:nvPr/>
        </p:nvSpPr>
        <p:spPr>
          <a:xfrm>
            <a:off x="502920" y="2148840"/>
            <a:ext cx="3566160" cy="118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5"/>
          <p:cNvSpPr txBox="1"/>
          <p:nvPr/>
        </p:nvSpPr>
        <p:spPr>
          <a:xfrm>
            <a:off x="502920" y="2468880"/>
            <a:ext cx="35661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15"/>
          <p:cNvSpPr txBox="1"/>
          <p:nvPr/>
        </p:nvSpPr>
        <p:spPr>
          <a:xfrm>
            <a:off x="502920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5"/>
          <p:cNvSpPr/>
          <p:nvPr/>
        </p:nvSpPr>
        <p:spPr>
          <a:xfrm>
            <a:off x="4270248" y="214884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5"/>
          <p:cNvSpPr/>
          <p:nvPr/>
        </p:nvSpPr>
        <p:spPr>
          <a:xfrm>
            <a:off x="4270248" y="2148840"/>
            <a:ext cx="3566160" cy="118872"/>
          </a:xfrm>
          <a:prstGeom prst="rect">
            <a:avLst/>
          </a:prstGeom>
          <a:solidFill>
            <a:srgbClr val="E6A81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5"/>
          <p:cNvSpPr txBox="1"/>
          <p:nvPr/>
        </p:nvSpPr>
        <p:spPr>
          <a:xfrm>
            <a:off x="4270248" y="246888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E6A8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5"/>
          <p:cNvSpPr txBox="1"/>
          <p:nvPr/>
        </p:nvSpPr>
        <p:spPr>
          <a:xfrm>
            <a:off x="4270248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docs per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5"/>
          <p:cNvSpPr/>
          <p:nvPr/>
        </p:nvSpPr>
        <p:spPr>
          <a:xfrm>
            <a:off x="8037576" y="2148840"/>
            <a:ext cx="3566160" cy="2103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5"/>
          <p:cNvSpPr/>
          <p:nvPr/>
        </p:nvSpPr>
        <p:spPr>
          <a:xfrm>
            <a:off x="8037576" y="2148840"/>
            <a:ext cx="3566160" cy="11887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5"/>
          <p:cNvSpPr txBox="1"/>
          <p:nvPr/>
        </p:nvSpPr>
        <p:spPr>
          <a:xfrm>
            <a:off x="8037576" y="2468880"/>
            <a:ext cx="35661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millions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5"/>
          <p:cNvSpPr txBox="1"/>
          <p:nvPr/>
        </p:nvSpPr>
        <p:spPr>
          <a:xfrm>
            <a:off x="8037576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 clean docs in the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5"/>
          <p:cNvSpPr/>
          <p:nvPr/>
        </p:nvSpPr>
        <p:spPr>
          <a:xfrm>
            <a:off x="502920" y="4526280"/>
            <a:ext cx="11183112" cy="141732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5"/>
          <p:cNvSpPr txBox="1"/>
          <p:nvPr/>
        </p:nvSpPr>
        <p:spPr>
          <a:xfrm>
            <a:off x="777240" y="4645152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PROVEN ACROSS THE 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5"/>
          <p:cNvSpPr txBox="1"/>
          <p:nvPr/>
        </p:nvSpPr>
        <p:spPr>
          <a:xfrm>
            <a:off x="777240" y="5029200"/>
            <a:ext cx="10789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LLMs: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GPT-4 · GPT-3.5 · LLaMA-2 · Vicuna · PaLM 2        </a:t>
            </a: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Retrievers: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Contriever · DPR · 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Datasets: 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Natural Questions (NQ) · HotpotQA · MS-MARCO — the attack generalizes, it isn't a one-off.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5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5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5 · THE OBVIOUS FIXES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6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Defences They Tested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6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Standard, obvious mitigations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6"/>
          <p:cNvSpPr/>
          <p:nvPr/>
        </p:nvSpPr>
        <p:spPr>
          <a:xfrm>
            <a:off x="502920" y="2194560"/>
            <a:ext cx="3575304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6"/>
          <p:cNvSpPr/>
          <p:nvPr/>
        </p:nvSpPr>
        <p:spPr>
          <a:xfrm>
            <a:off x="502920" y="2194560"/>
            <a:ext cx="118872" cy="3474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6"/>
          <p:cNvSpPr txBox="1"/>
          <p:nvPr/>
        </p:nvSpPr>
        <p:spPr>
          <a:xfrm>
            <a:off x="795528" y="245059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📉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6"/>
          <p:cNvSpPr txBox="1"/>
          <p:nvPr/>
        </p:nvSpPr>
        <p:spPr>
          <a:xfrm>
            <a:off x="795528" y="310896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Perplexity Filtering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16"/>
          <p:cNvSpPr txBox="1"/>
          <p:nvPr/>
        </p:nvSpPr>
        <p:spPr>
          <a:xfrm>
            <a:off x="795528" y="3840480"/>
            <a:ext cx="30266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Drop documents whose language looks statistically abnormal (high perplexity).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16"/>
          <p:cNvSpPr/>
          <p:nvPr/>
        </p:nvSpPr>
        <p:spPr>
          <a:xfrm>
            <a:off x="4306824" y="2194560"/>
            <a:ext cx="3575304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6"/>
          <p:cNvSpPr/>
          <p:nvPr/>
        </p:nvSpPr>
        <p:spPr>
          <a:xfrm>
            <a:off x="4306824" y="2194560"/>
            <a:ext cx="118872" cy="347472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6"/>
          <p:cNvSpPr txBox="1"/>
          <p:nvPr/>
        </p:nvSpPr>
        <p:spPr>
          <a:xfrm>
            <a:off x="4599432" y="245059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6"/>
          <p:cNvSpPr txBox="1"/>
          <p:nvPr/>
        </p:nvSpPr>
        <p:spPr>
          <a:xfrm>
            <a:off x="4599432" y="310896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Paraphrasing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16"/>
          <p:cNvSpPr txBox="1"/>
          <p:nvPr/>
        </p:nvSpPr>
        <p:spPr>
          <a:xfrm>
            <a:off x="4599432" y="3840480"/>
            <a:ext cx="30266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Reword the question before retrieval, hoping the poison no longer matches.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16"/>
          <p:cNvSpPr/>
          <p:nvPr/>
        </p:nvSpPr>
        <p:spPr>
          <a:xfrm>
            <a:off x="8110728" y="2194560"/>
            <a:ext cx="3575304" cy="3474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6"/>
          <p:cNvSpPr/>
          <p:nvPr/>
        </p:nvSpPr>
        <p:spPr>
          <a:xfrm>
            <a:off x="8110728" y="2194560"/>
            <a:ext cx="118872" cy="347472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6"/>
          <p:cNvSpPr txBox="1"/>
          <p:nvPr/>
        </p:nvSpPr>
        <p:spPr>
          <a:xfrm>
            <a:off x="8403336" y="245059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6"/>
          <p:cNvSpPr txBox="1"/>
          <p:nvPr/>
        </p:nvSpPr>
        <p:spPr>
          <a:xfrm>
            <a:off x="8403336" y="310896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Expansion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16"/>
          <p:cNvSpPr txBox="1"/>
          <p:nvPr/>
        </p:nvSpPr>
        <p:spPr>
          <a:xfrm>
            <a:off x="8403336" y="3840480"/>
            <a:ext cx="3026664" cy="1691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Retrieve more documents (larger K) to dilute the poison's influence.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6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6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7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❌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5 · THE GAP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7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They Fail - The G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7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7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authors' own conclusion: existing defenses are insufficient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7"/>
          <p:cNvSpPr/>
          <p:nvPr/>
        </p:nvSpPr>
        <p:spPr>
          <a:xfrm>
            <a:off x="502920" y="2148840"/>
            <a:ext cx="11183112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7"/>
          <p:cNvSpPr/>
          <p:nvPr/>
        </p:nvSpPr>
        <p:spPr>
          <a:xfrm>
            <a:off x="822960" y="2386584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17"/>
          <p:cNvSpPr txBox="1"/>
          <p:nvPr/>
        </p:nvSpPr>
        <p:spPr>
          <a:xfrm>
            <a:off x="1463040" y="2258568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Perplexity filtering fails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17"/>
          <p:cNvSpPr txBox="1"/>
          <p:nvPr/>
        </p:nvSpPr>
        <p:spPr>
          <a:xfrm>
            <a:off x="4754880" y="2240280"/>
            <a:ext cx="6675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poison is LLM-generated, so it reads fluently and has natural perplexity. Filter catches only crude poison.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17"/>
          <p:cNvSpPr/>
          <p:nvPr/>
        </p:nvSpPr>
        <p:spPr>
          <a:xfrm>
            <a:off x="502920" y="3172968"/>
            <a:ext cx="11183112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7"/>
          <p:cNvSpPr/>
          <p:nvPr/>
        </p:nvSpPr>
        <p:spPr>
          <a:xfrm>
            <a:off x="822960" y="3410712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17"/>
          <p:cNvSpPr txBox="1"/>
          <p:nvPr/>
        </p:nvSpPr>
        <p:spPr>
          <a:xfrm>
            <a:off x="1463040" y="3282696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Paraphrasing fails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17"/>
          <p:cNvSpPr txBox="1"/>
          <p:nvPr/>
        </p:nvSpPr>
        <p:spPr>
          <a:xfrm>
            <a:off x="4754880" y="3264408"/>
            <a:ext cx="6675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matches the question's meaning, not its exact words. Rewording doesn't move the embeddings enough.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7"/>
          <p:cNvSpPr/>
          <p:nvPr/>
        </p:nvSpPr>
        <p:spPr>
          <a:xfrm>
            <a:off x="502920" y="4197096"/>
            <a:ext cx="11183112" cy="8961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7"/>
          <p:cNvSpPr/>
          <p:nvPr/>
        </p:nvSpPr>
        <p:spPr>
          <a:xfrm>
            <a:off x="822960" y="4434840"/>
            <a:ext cx="420624" cy="420624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✕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7"/>
          <p:cNvSpPr txBox="1"/>
          <p:nvPr/>
        </p:nvSpPr>
        <p:spPr>
          <a:xfrm>
            <a:off x="1463040" y="4306824"/>
            <a:ext cx="32918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Expansion fails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7"/>
          <p:cNvSpPr txBox="1"/>
          <p:nvPr/>
        </p:nvSpPr>
        <p:spPr>
          <a:xfrm>
            <a:off x="4754880" y="4288536"/>
            <a:ext cx="66751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retrieved docs still include the poison — and the LLM keeps weighting it heavily.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502920" y="5349240"/>
            <a:ext cx="11183112" cy="713232"/>
          </a:xfrm>
          <a:prstGeom prst="roundRect">
            <a:avLst>
              <a:gd fmla="val 16667" name="adj"/>
            </a:avLst>
          </a:prstGeom>
          <a:solidFill>
            <a:srgbClr val="FDF2F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Even with defenses on, attack success stays alarmingly high (~30%+).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paper explicitly calls for new defenses — that's the gap our project fills.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17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17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1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8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💡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5 · OUR INSIGHT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18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Gap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18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8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single-filter to defense-in-depth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18"/>
          <p:cNvSpPr/>
          <p:nvPr/>
        </p:nvSpPr>
        <p:spPr>
          <a:xfrm>
            <a:off x="502920" y="2148840"/>
            <a:ext cx="544068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8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PROBLEM WITH ONE FILTER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18"/>
          <p:cNvSpPr txBox="1"/>
          <p:nvPr/>
        </p:nvSpPr>
        <p:spPr>
          <a:xfrm>
            <a:off x="777240" y="2834640"/>
            <a:ext cx="4983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single defense layer can always be bypassed — the attacker just tunes the poison to slip past that one check. One checkpoint is one point of failure.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18"/>
          <p:cNvSpPr/>
          <p:nvPr/>
        </p:nvSpPr>
        <p:spPr>
          <a:xfrm>
            <a:off x="6245352" y="2148840"/>
            <a:ext cx="5440680" cy="2743200"/>
          </a:xfrm>
          <a:prstGeom prst="roundRect">
            <a:avLst>
              <a:gd fmla="val 16667" name="adj"/>
            </a:avLst>
          </a:prstGeom>
          <a:solidFill>
            <a:srgbClr val="ECF6F1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8"/>
          <p:cNvSpPr txBox="1"/>
          <p:nvPr/>
        </p:nvSpPr>
        <p:spPr>
          <a:xfrm>
            <a:off x="6519672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INSIGHT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18"/>
          <p:cNvSpPr txBox="1"/>
          <p:nvPr/>
        </p:nvSpPr>
        <p:spPr>
          <a:xfrm>
            <a:off x="6519672" y="2834640"/>
            <a:ext cx="4983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Catch poison at multiple independent stages. To win, the attacker would have to defeat every layer at once — far harder than beating any single one.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This motivates RAG-Shield.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18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Gap statement:  </a:t>
            </a:r>
            <a:r>
              <a:rPr b="0" i="0" lang="en-US" sz="12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"Existing single-layer defenses leave 30%+ residual attack success. We need layered, defense-in-depth protection that screens documents at ingest, retrieval, and generation."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8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8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9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THE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9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RAG-Shield: 3-Ring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9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9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Our contribution — defense-in-depth across the pipeline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19"/>
          <p:cNvSpPr/>
          <p:nvPr/>
        </p:nvSpPr>
        <p:spPr>
          <a:xfrm>
            <a:off x="502920" y="2148840"/>
            <a:ext cx="3575304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9"/>
          <p:cNvSpPr/>
          <p:nvPr/>
        </p:nvSpPr>
        <p:spPr>
          <a:xfrm>
            <a:off x="502920" y="2148840"/>
            <a:ext cx="118872" cy="310896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19"/>
          <p:cNvSpPr txBox="1"/>
          <p:nvPr/>
        </p:nvSpPr>
        <p:spPr>
          <a:xfrm>
            <a:off x="795528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1️⃣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19"/>
          <p:cNvSpPr txBox="1"/>
          <p:nvPr/>
        </p:nvSpPr>
        <p:spPr>
          <a:xfrm>
            <a:off x="795528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 · Ingest 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19"/>
          <p:cNvSpPr txBox="1"/>
          <p:nvPr/>
        </p:nvSpPr>
        <p:spPr>
          <a:xfrm>
            <a:off x="795528" y="3794760"/>
            <a:ext cx="302666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Screen documents when they are ADDED to the KB.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9"/>
          <p:cNvSpPr/>
          <p:nvPr/>
        </p:nvSpPr>
        <p:spPr>
          <a:xfrm>
            <a:off x="4306824" y="2148840"/>
            <a:ext cx="3575304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9"/>
          <p:cNvSpPr/>
          <p:nvPr/>
        </p:nvSpPr>
        <p:spPr>
          <a:xfrm>
            <a:off x="4306824" y="2148840"/>
            <a:ext cx="118872" cy="310896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9"/>
          <p:cNvSpPr txBox="1"/>
          <p:nvPr/>
        </p:nvSpPr>
        <p:spPr>
          <a:xfrm>
            <a:off x="4599432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2️⃣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9"/>
          <p:cNvSpPr txBox="1"/>
          <p:nvPr/>
        </p:nvSpPr>
        <p:spPr>
          <a:xfrm>
            <a:off x="4599432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 · Retrieval Scorer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9"/>
          <p:cNvSpPr txBox="1"/>
          <p:nvPr/>
        </p:nvSpPr>
        <p:spPr>
          <a:xfrm>
            <a:off x="4599432" y="3794760"/>
            <a:ext cx="302666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Re-rank &amp; filter retrieved docs at QUERY time.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19"/>
          <p:cNvSpPr/>
          <p:nvPr/>
        </p:nvSpPr>
        <p:spPr>
          <a:xfrm>
            <a:off x="8110728" y="2148840"/>
            <a:ext cx="3575304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19"/>
          <p:cNvSpPr/>
          <p:nvPr/>
        </p:nvSpPr>
        <p:spPr>
          <a:xfrm>
            <a:off x="8110728" y="2148840"/>
            <a:ext cx="118872" cy="310896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9"/>
          <p:cNvSpPr txBox="1"/>
          <p:nvPr/>
        </p:nvSpPr>
        <p:spPr>
          <a:xfrm>
            <a:off x="8403336" y="2404872"/>
            <a:ext cx="31181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3️⃣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19"/>
          <p:cNvSpPr txBox="1"/>
          <p:nvPr/>
        </p:nvSpPr>
        <p:spPr>
          <a:xfrm>
            <a:off x="8403336" y="3063240"/>
            <a:ext cx="3072384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 · Cross-LLM Consensus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19"/>
          <p:cNvSpPr txBox="1"/>
          <p:nvPr/>
        </p:nvSpPr>
        <p:spPr>
          <a:xfrm>
            <a:off x="8403336" y="3794760"/>
            <a:ext cx="3026664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Verify the final ANSWER with multiple LLMs.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19"/>
          <p:cNvSpPr/>
          <p:nvPr/>
        </p:nvSpPr>
        <p:spPr>
          <a:xfrm>
            <a:off x="502920" y="5486400"/>
            <a:ext cx="11183112" cy="566928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ring catches what the previous missed.  </a:t>
            </a:r>
            <a:r>
              <a:rPr b="0" i="0" lang="en-US" sz="12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must defeat ingest screening AND retrieval scoring AND multi-LLM consensus — all at once — to succeed.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19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19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🔬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INSIDE THE 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20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How Each Ring Catches Poison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20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0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independent detection mechanisms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20"/>
          <p:cNvSpPr/>
          <p:nvPr/>
        </p:nvSpPr>
        <p:spPr>
          <a:xfrm>
            <a:off x="502920" y="2194560"/>
            <a:ext cx="35661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0"/>
          <p:cNvSpPr/>
          <p:nvPr/>
        </p:nvSpPr>
        <p:spPr>
          <a:xfrm>
            <a:off x="502920" y="2194560"/>
            <a:ext cx="3566160" cy="640080"/>
          </a:xfrm>
          <a:prstGeom prst="roundRect">
            <a:avLst>
              <a:gd fmla="val 16667" name="adj"/>
            </a:avLst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 · Ingest 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p20"/>
          <p:cNvSpPr txBox="1"/>
          <p:nvPr/>
        </p:nvSpPr>
        <p:spPr>
          <a:xfrm>
            <a:off x="795528" y="3108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Perplexity scoring of new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0"/>
          <p:cNvSpPr txBox="1"/>
          <p:nvPr/>
        </p:nvSpPr>
        <p:spPr>
          <a:xfrm>
            <a:off x="795528" y="3886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Embedding-outlier detection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20"/>
          <p:cNvSpPr txBox="1"/>
          <p:nvPr/>
        </p:nvSpPr>
        <p:spPr>
          <a:xfrm>
            <a:off x="795528" y="46634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 match (query embedded verbatim)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20"/>
          <p:cNvSpPr/>
          <p:nvPr/>
        </p:nvSpPr>
        <p:spPr>
          <a:xfrm>
            <a:off x="4270248" y="2194560"/>
            <a:ext cx="35661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20"/>
          <p:cNvSpPr/>
          <p:nvPr/>
        </p:nvSpPr>
        <p:spPr>
          <a:xfrm>
            <a:off x="4270248" y="2194560"/>
            <a:ext cx="3566160" cy="640080"/>
          </a:xfrm>
          <a:prstGeom prst="roundRect">
            <a:avLst>
              <a:gd fmla="val 16667" name="adj"/>
            </a:avLst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 · Retrieval Scorer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20"/>
          <p:cNvSpPr txBox="1"/>
          <p:nvPr/>
        </p:nvSpPr>
        <p:spPr>
          <a:xfrm>
            <a:off x="4562856" y="3108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Source-provenance / trust weighting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20"/>
          <p:cNvSpPr txBox="1"/>
          <p:nvPr/>
        </p:nvSpPr>
        <p:spPr>
          <a:xfrm>
            <a:off x="4562856" y="3886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Inter-document consistency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0"/>
          <p:cNvSpPr txBox="1"/>
          <p:nvPr/>
        </p:nvSpPr>
        <p:spPr>
          <a:xfrm>
            <a:off x="4562856" y="46634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Trust-weighted re-ranking of top-K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0"/>
          <p:cNvSpPr/>
          <p:nvPr/>
        </p:nvSpPr>
        <p:spPr>
          <a:xfrm>
            <a:off x="8037576" y="2194560"/>
            <a:ext cx="3566160" cy="35661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0"/>
          <p:cNvSpPr/>
          <p:nvPr/>
        </p:nvSpPr>
        <p:spPr>
          <a:xfrm>
            <a:off x="8037576" y="2194560"/>
            <a:ext cx="3566160" cy="640080"/>
          </a:xfrm>
          <a:prstGeom prst="roundRect">
            <a:avLst>
              <a:gd fmla="val 16667" name="adj"/>
            </a:avLst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 · Cross-LLM Consensus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0"/>
          <p:cNvSpPr txBox="1"/>
          <p:nvPr/>
        </p:nvSpPr>
        <p:spPr>
          <a:xfrm>
            <a:off x="8330184" y="310896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3 different LLMs in parallel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0"/>
          <p:cNvSpPr txBox="1"/>
          <p:nvPr/>
        </p:nvSpPr>
        <p:spPr>
          <a:xfrm>
            <a:off x="8330184" y="388620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Flag answers when they disagree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0"/>
          <p:cNvSpPr txBox="1"/>
          <p:nvPr/>
        </p:nvSpPr>
        <p:spPr>
          <a:xfrm>
            <a:off x="8330184" y="4663440"/>
            <a:ext cx="31089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Re-retrieve excluding suspect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0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0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1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🏗️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THE BLUEPRINT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21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 Architecture (RSA = R3 = C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</a:t>
            </a: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21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1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End-to-end pipeline with three defensive 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21"/>
          <p:cNvSpPr txBox="1"/>
          <p:nvPr/>
        </p:nvSpPr>
        <p:spPr>
          <a:xfrm>
            <a:off x="502920" y="17556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VERTICAL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1" name="Google Shape;661;p21"/>
          <p:cNvSpPr/>
          <p:nvPr/>
        </p:nvSpPr>
        <p:spPr>
          <a:xfrm>
            <a:off x="502920" y="210312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1"/>
          <p:cNvSpPr/>
          <p:nvPr/>
        </p:nvSpPr>
        <p:spPr>
          <a:xfrm>
            <a:off x="502920" y="2103120"/>
            <a:ext cx="91440" cy="548640"/>
          </a:xfrm>
          <a:prstGeom prst="rect">
            <a:avLst/>
          </a:prstGeom>
          <a:solidFill>
            <a:srgbClr val="16243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1"/>
          <p:cNvSpPr txBox="1"/>
          <p:nvPr/>
        </p:nvSpPr>
        <p:spPr>
          <a:xfrm>
            <a:off x="722376" y="2121408"/>
            <a:ext cx="2587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4" name="Google Shape;664;p21"/>
          <p:cNvCxnSpPr/>
          <p:nvPr/>
        </p:nvCxnSpPr>
        <p:spPr>
          <a:xfrm>
            <a:off x="1943100" y="265176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5" name="Google Shape;665;p21"/>
          <p:cNvSpPr/>
          <p:nvPr/>
        </p:nvSpPr>
        <p:spPr>
          <a:xfrm>
            <a:off x="502920" y="274320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1"/>
          <p:cNvSpPr/>
          <p:nvPr/>
        </p:nvSpPr>
        <p:spPr>
          <a:xfrm>
            <a:off x="502920" y="2743200"/>
            <a:ext cx="91440" cy="54864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1"/>
          <p:cNvSpPr txBox="1"/>
          <p:nvPr/>
        </p:nvSpPr>
        <p:spPr>
          <a:xfrm>
            <a:off x="722376" y="2761488"/>
            <a:ext cx="2587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Knowledge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5000 clean + poison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8" name="Google Shape;668;p21"/>
          <p:cNvCxnSpPr/>
          <p:nvPr/>
        </p:nvCxnSpPr>
        <p:spPr>
          <a:xfrm>
            <a:off x="1943100" y="329184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69" name="Google Shape;669;p21"/>
          <p:cNvSpPr/>
          <p:nvPr/>
        </p:nvSpPr>
        <p:spPr>
          <a:xfrm>
            <a:off x="502920" y="338328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1"/>
          <p:cNvSpPr/>
          <p:nvPr/>
        </p:nvSpPr>
        <p:spPr>
          <a:xfrm>
            <a:off x="502920" y="3383280"/>
            <a:ext cx="91440" cy="54864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1"/>
          <p:cNvSpPr txBox="1"/>
          <p:nvPr/>
        </p:nvSpPr>
        <p:spPr>
          <a:xfrm>
            <a:off x="722376" y="3401568"/>
            <a:ext cx="2587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 · Ingest 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perplexity + outlier + pattern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2" name="Google Shape;672;p21"/>
          <p:cNvCxnSpPr/>
          <p:nvPr/>
        </p:nvCxnSpPr>
        <p:spPr>
          <a:xfrm>
            <a:off x="1943100" y="393192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3" name="Google Shape;673;p21"/>
          <p:cNvSpPr/>
          <p:nvPr/>
        </p:nvSpPr>
        <p:spPr>
          <a:xfrm>
            <a:off x="502920" y="402336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1"/>
          <p:cNvSpPr/>
          <p:nvPr/>
        </p:nvSpPr>
        <p:spPr>
          <a:xfrm>
            <a:off x="502920" y="4023360"/>
            <a:ext cx="91440" cy="548640"/>
          </a:xfrm>
          <a:prstGeom prst="rect">
            <a:avLst/>
          </a:prstGeom>
          <a:solidFill>
            <a:srgbClr val="1B6E8C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1"/>
          <p:cNvSpPr txBox="1"/>
          <p:nvPr/>
        </p:nvSpPr>
        <p:spPr>
          <a:xfrm>
            <a:off x="722376" y="4041648"/>
            <a:ext cx="2587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B6E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 · Retrieval Scorer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provenance + 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6" name="Google Shape;676;p21"/>
          <p:cNvCxnSpPr/>
          <p:nvPr/>
        </p:nvCxnSpPr>
        <p:spPr>
          <a:xfrm>
            <a:off x="1943100" y="457200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77" name="Google Shape;677;p21"/>
          <p:cNvSpPr/>
          <p:nvPr/>
        </p:nvSpPr>
        <p:spPr>
          <a:xfrm>
            <a:off x="502920" y="466344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502920" y="4663440"/>
            <a:ext cx="91440" cy="548640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1"/>
          <p:cNvSpPr txBox="1"/>
          <p:nvPr/>
        </p:nvSpPr>
        <p:spPr>
          <a:xfrm>
            <a:off x="722376" y="4681728"/>
            <a:ext cx="25878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 · Cross-LLM Consensus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Claude + </a:t>
            </a:r>
            <a:r>
              <a:rPr lang="en-US" sz="9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Mistral</a:t>
            </a: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+ O</a:t>
            </a:r>
            <a:r>
              <a:rPr lang="en-US" sz="9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</a:t>
            </a: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lang="en-US" sz="9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0" name="Google Shape;680;p21"/>
          <p:cNvCxnSpPr/>
          <p:nvPr/>
        </p:nvCxnSpPr>
        <p:spPr>
          <a:xfrm>
            <a:off x="1943100" y="5212080"/>
            <a:ext cx="0" cy="9144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1" name="Google Shape;681;p21"/>
          <p:cNvSpPr/>
          <p:nvPr/>
        </p:nvSpPr>
        <p:spPr>
          <a:xfrm>
            <a:off x="502920" y="5303520"/>
            <a:ext cx="2880360" cy="548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502920" y="5303520"/>
            <a:ext cx="91440" cy="5486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 txBox="1"/>
          <p:nvPr/>
        </p:nvSpPr>
        <p:spPr>
          <a:xfrm>
            <a:off x="722376" y="5321808"/>
            <a:ext cx="2587752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Trusted Answer  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21"/>
          <p:cNvSpPr/>
          <p:nvPr/>
        </p:nvSpPr>
        <p:spPr>
          <a:xfrm>
            <a:off x="4297680" y="1828800"/>
            <a:ext cx="3108960" cy="420624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 User Query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21"/>
          <p:cNvSpPr/>
          <p:nvPr/>
        </p:nvSpPr>
        <p:spPr>
          <a:xfrm>
            <a:off x="4160520" y="2414016"/>
            <a:ext cx="3383280" cy="457200"/>
          </a:xfrm>
          <a:prstGeom prst="roundRect">
            <a:avLst>
              <a:gd fmla="val 16667" name="adj"/>
            </a:avLst>
          </a:prstGeom>
          <a:solidFill>
            <a:srgbClr val="DDECF7"/>
          </a:solidFill>
          <a:ln cap="flat" cmpd="sng" w="12700">
            <a:solidFill>
              <a:srgbClr val="2B6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 Knowledge Base</a:t>
            </a:r>
            <a:r>
              <a:rPr b="0" i="0" lang="en-US" sz="9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5000 clean + poison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86" name="Google Shape;686;p21"/>
          <p:cNvCxnSpPr/>
          <p:nvPr/>
        </p:nvCxnSpPr>
        <p:spPr>
          <a:xfrm>
            <a:off x="5852160" y="2249424"/>
            <a:ext cx="0" cy="164592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87" name="Google Shape;687;p21"/>
          <p:cNvCxnSpPr/>
          <p:nvPr/>
        </p:nvCxnSpPr>
        <p:spPr>
          <a:xfrm>
            <a:off x="5852160" y="2871216"/>
            <a:ext cx="0" cy="256032"/>
          </a:xfrm>
          <a:prstGeom prst="straightConnector1">
            <a:avLst/>
          </a:prstGeom>
          <a:noFill/>
          <a:ln cap="flat" cmpd="sng" w="25400">
            <a:solidFill>
              <a:srgbClr val="16243F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descr="rag_shield_rings.png" id="688" name="Google Shape;6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0" y="3154680"/>
            <a:ext cx="4343400" cy="2752344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21"/>
          <p:cNvSpPr txBox="1"/>
          <p:nvPr/>
        </p:nvSpPr>
        <p:spPr>
          <a:xfrm>
            <a:off x="3657600" y="5943600"/>
            <a:ext cx="4343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 must defeat all three rings to reach the user.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21"/>
          <p:cNvSpPr/>
          <p:nvPr/>
        </p:nvSpPr>
        <p:spPr>
          <a:xfrm>
            <a:off x="8275320" y="1965960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8275320" y="1965960"/>
            <a:ext cx="3429000" cy="64008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 txBox="1"/>
          <p:nvPr/>
        </p:nvSpPr>
        <p:spPr>
          <a:xfrm>
            <a:off x="8476488" y="214884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E7C6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 · Ingest Guard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8476500" y="2587750"/>
            <a:ext cx="1051500" cy="292500"/>
          </a:xfrm>
          <a:prstGeom prst="roundRect">
            <a:avLst>
              <a:gd fmla="val 16667" name="adj"/>
            </a:avLst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Perplexity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21"/>
          <p:cNvSpPr/>
          <p:nvPr/>
        </p:nvSpPr>
        <p:spPr>
          <a:xfrm>
            <a:off x="9663264" y="2587750"/>
            <a:ext cx="862200" cy="292500"/>
          </a:xfrm>
          <a:prstGeom prst="roundRect">
            <a:avLst>
              <a:gd fmla="val 16667" name="adj"/>
            </a:avLst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Outlier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21"/>
          <p:cNvSpPr/>
          <p:nvPr/>
        </p:nvSpPr>
        <p:spPr>
          <a:xfrm>
            <a:off x="10641080" y="2587750"/>
            <a:ext cx="862200" cy="292500"/>
          </a:xfrm>
          <a:prstGeom prst="roundRect">
            <a:avLst>
              <a:gd fmla="val 16667" name="adj"/>
            </a:avLst>
          </a:prstGeom>
          <a:solidFill>
            <a:srgbClr val="0E7C66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Pattern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8275320" y="3273552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8275320" y="3273552"/>
            <a:ext cx="3429000" cy="64008"/>
          </a:xfrm>
          <a:prstGeom prst="rect">
            <a:avLst/>
          </a:prstGeom>
          <a:solidFill>
            <a:srgbClr val="1B6E8C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 txBox="1"/>
          <p:nvPr/>
        </p:nvSpPr>
        <p:spPr>
          <a:xfrm>
            <a:off x="8476488" y="345643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B6E8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 · Retrieval Scorer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9" name="Google Shape;699;p21"/>
          <p:cNvSpPr/>
          <p:nvPr/>
        </p:nvSpPr>
        <p:spPr>
          <a:xfrm>
            <a:off x="8476488" y="3895344"/>
            <a:ext cx="1362456" cy="292608"/>
          </a:xfrm>
          <a:prstGeom prst="roundRect">
            <a:avLst>
              <a:gd fmla="val 16667" name="adj"/>
            </a:avLst>
          </a:prstGeom>
          <a:solidFill>
            <a:srgbClr val="1B6E8C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Provenance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21"/>
          <p:cNvSpPr/>
          <p:nvPr/>
        </p:nvSpPr>
        <p:spPr>
          <a:xfrm>
            <a:off x="9948672" y="3895344"/>
            <a:ext cx="1467612" cy="292608"/>
          </a:xfrm>
          <a:prstGeom prst="roundRect">
            <a:avLst>
              <a:gd fmla="val 16667" name="adj"/>
            </a:avLst>
          </a:prstGeom>
          <a:solidFill>
            <a:srgbClr val="1B6E8C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Consistency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8275320" y="4581144"/>
            <a:ext cx="342900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8275320" y="4581144"/>
            <a:ext cx="3429000" cy="64008"/>
          </a:xfrm>
          <a:prstGeom prst="rect">
            <a:avLst/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 txBox="1"/>
          <p:nvPr/>
        </p:nvSpPr>
        <p:spPr>
          <a:xfrm>
            <a:off x="8476488" y="4764024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 · Cross-LLM Consensus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21"/>
          <p:cNvSpPr/>
          <p:nvPr/>
        </p:nvSpPr>
        <p:spPr>
          <a:xfrm>
            <a:off x="8476488" y="5202936"/>
            <a:ext cx="941832" cy="292608"/>
          </a:xfrm>
          <a:prstGeom prst="roundRect">
            <a:avLst>
              <a:gd fmla="val 16667" name="adj"/>
            </a:avLst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Claude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21"/>
          <p:cNvSpPr/>
          <p:nvPr/>
        </p:nvSpPr>
        <p:spPr>
          <a:xfrm>
            <a:off x="9528048" y="5202936"/>
            <a:ext cx="626364" cy="292608"/>
          </a:xfrm>
          <a:prstGeom prst="roundRect">
            <a:avLst>
              <a:gd fmla="val 16667" name="adj"/>
            </a:avLst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10264140" y="5202936"/>
            <a:ext cx="836676" cy="292608"/>
          </a:xfrm>
          <a:prstGeom prst="roundRect">
            <a:avLst>
              <a:gd fmla="val 16667" name="adj"/>
            </a:avLst>
          </a:prstGeom>
          <a:solidFill>
            <a:srgbClr val="6A4C93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Oll</a:t>
            </a:r>
            <a:r>
              <a:rPr b="1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</a:t>
            </a:r>
            <a:r>
              <a:rPr b="1" lang="en-US" sz="10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21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21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2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2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🎬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SEE IT 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22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IVE</a:t>
            </a: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</a:t>
            </a: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22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22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vs. RAG-Shield on a Real Knowledge Base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emo_mockup.png" id="720" name="Google Shape;72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828800"/>
            <a:ext cx="5349240" cy="3822191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22"/>
          <p:cNvSpPr txBox="1"/>
          <p:nvPr/>
        </p:nvSpPr>
        <p:spPr>
          <a:xfrm>
            <a:off x="6126480" y="1874519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C2C8D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22"/>
          <p:cNvSpPr txBox="1"/>
          <p:nvPr/>
        </p:nvSpPr>
        <p:spPr>
          <a:xfrm>
            <a:off x="6766560" y="1874519"/>
            <a:ext cx="37947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Ask </a:t>
            </a:r>
            <a:r>
              <a:rPr b="0" i="1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'Who founded Tesla?'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</a:t>
            </a:r>
            <a:r>
              <a:rPr b="1" i="0" lang="en-US" sz="14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KB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LLM returns the </a:t>
            </a:r>
            <a:r>
              <a:rPr b="1" i="0" lang="en-US" sz="145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WRONG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answer.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22"/>
          <p:cNvSpPr txBox="1"/>
          <p:nvPr/>
        </p:nvSpPr>
        <p:spPr>
          <a:xfrm>
            <a:off x="10625328" y="1874519"/>
            <a:ext cx="9601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4" name="Google Shape;724;p22"/>
          <p:cNvCxnSpPr/>
          <p:nvPr/>
        </p:nvCxnSpPr>
        <p:spPr>
          <a:xfrm>
            <a:off x="6766560" y="2807207"/>
            <a:ext cx="4818888" cy="0"/>
          </a:xfrm>
          <a:prstGeom prst="straightConnector1">
            <a:avLst/>
          </a:prstGeom>
          <a:noFill/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5" name="Google Shape;725;p22"/>
          <p:cNvSpPr txBox="1"/>
          <p:nvPr/>
        </p:nvSpPr>
        <p:spPr>
          <a:xfrm>
            <a:off x="6126480" y="2807207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C2C8D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22"/>
          <p:cNvSpPr txBox="1"/>
          <p:nvPr/>
        </p:nvSpPr>
        <p:spPr>
          <a:xfrm>
            <a:off x="6766560" y="2807207"/>
            <a:ext cx="37947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Turn </a:t>
            </a:r>
            <a:r>
              <a:rPr b="1" i="0" lang="en-US" sz="14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 RAG-Shield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→ Same question → Each ring filters → </a:t>
            </a: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CORRECT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answer.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22"/>
          <p:cNvSpPr txBox="1"/>
          <p:nvPr/>
        </p:nvSpPr>
        <p:spPr>
          <a:xfrm>
            <a:off x="10625328" y="2807207"/>
            <a:ext cx="9601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8" name="Google Shape;728;p22"/>
          <p:cNvCxnSpPr/>
          <p:nvPr/>
        </p:nvCxnSpPr>
        <p:spPr>
          <a:xfrm>
            <a:off x="6766560" y="3739895"/>
            <a:ext cx="4818888" cy="0"/>
          </a:xfrm>
          <a:prstGeom prst="straightConnector1">
            <a:avLst/>
          </a:prstGeom>
          <a:noFill/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22"/>
          <p:cNvSpPr txBox="1"/>
          <p:nvPr/>
        </p:nvSpPr>
        <p:spPr>
          <a:xfrm>
            <a:off x="6126480" y="3739895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C2C8D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22"/>
          <p:cNvSpPr txBox="1"/>
          <p:nvPr/>
        </p:nvSpPr>
        <p:spPr>
          <a:xfrm>
            <a:off x="6766560" y="3739895"/>
            <a:ext cx="37947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Cross-LLM Moment: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LLMs disagree on poison, agree once shielded.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22"/>
          <p:cNvSpPr txBox="1"/>
          <p:nvPr/>
        </p:nvSpPr>
        <p:spPr>
          <a:xfrm>
            <a:off x="10625328" y="3739895"/>
            <a:ext cx="9601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🟥🟩🟦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32" name="Google Shape;732;p22"/>
          <p:cNvCxnSpPr/>
          <p:nvPr/>
        </p:nvCxnSpPr>
        <p:spPr>
          <a:xfrm>
            <a:off x="6766560" y="4672583"/>
            <a:ext cx="4818888" cy="0"/>
          </a:xfrm>
          <a:prstGeom prst="straightConnector1">
            <a:avLst/>
          </a:prstGeom>
          <a:noFill/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33" name="Google Shape;733;p22"/>
          <p:cNvSpPr txBox="1"/>
          <p:nvPr/>
        </p:nvSpPr>
        <p:spPr>
          <a:xfrm>
            <a:off x="6126480" y="4672583"/>
            <a:ext cx="64008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C2C8D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22"/>
          <p:cNvSpPr txBox="1"/>
          <p:nvPr/>
        </p:nvSpPr>
        <p:spPr>
          <a:xfrm>
            <a:off x="6766560" y="4672583"/>
            <a:ext cx="379476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Multi-backend Flex: </a:t>
            </a:r>
            <a:r>
              <a:rPr b="0" i="0" lang="en-US" sz="14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Switch Claude → Ollama → Defense holds everywhere.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22"/>
          <p:cNvSpPr txBox="1"/>
          <p:nvPr/>
        </p:nvSpPr>
        <p:spPr>
          <a:xfrm>
            <a:off x="10625328" y="4672583"/>
            <a:ext cx="96012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2"/>
          <p:cNvSpPr/>
          <p:nvPr/>
        </p:nvSpPr>
        <p:spPr>
          <a:xfrm>
            <a:off x="502920" y="5897880"/>
            <a:ext cx="11183112" cy="50292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 </a:t>
            </a:r>
            <a:r>
              <a:rPr b="1" i="0" lang="en-US" sz="12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Stack: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Python · FAISS · sentence-transformers · Streamlit · Anthropic Claude · Azure OpenAI · Ollama (LLaMA 3.1)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2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2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3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3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23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THE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23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Inside RAG-Shield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23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23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real Streamlit app over FAISS + live LLM backends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23"/>
          <p:cNvSpPr/>
          <p:nvPr/>
        </p:nvSpPr>
        <p:spPr>
          <a:xfrm>
            <a:off x="8412480" y="1783080"/>
            <a:ext cx="3291840" cy="45262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23"/>
          <p:cNvSpPr txBox="1"/>
          <p:nvPr/>
        </p:nvSpPr>
        <p:spPr>
          <a:xfrm>
            <a:off x="8641080" y="1965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FIVE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23"/>
          <p:cNvSpPr txBox="1"/>
          <p:nvPr/>
        </p:nvSpPr>
        <p:spPr>
          <a:xfrm>
            <a:off x="8641080" y="2496312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Demo — 5 poison docs hijack the answer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23"/>
          <p:cNvSpPr txBox="1"/>
          <p:nvPr/>
        </p:nvSpPr>
        <p:spPr>
          <a:xfrm>
            <a:off x="8641080" y="3209544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Defense Demo — turn on RAG-Shield, rings fire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23"/>
          <p:cNvSpPr txBox="1"/>
          <p:nvPr/>
        </p:nvSpPr>
        <p:spPr>
          <a:xfrm>
            <a:off x="8641080" y="3922776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Side-by-Side — poisoned vs shielded together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23"/>
          <p:cNvSpPr txBox="1"/>
          <p:nvPr/>
        </p:nvSpPr>
        <p:spPr>
          <a:xfrm>
            <a:off x="8641080" y="4636008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Forensic Explorer — which docs each ring flagged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23"/>
          <p:cNvSpPr txBox="1"/>
          <p:nvPr/>
        </p:nvSpPr>
        <p:spPr>
          <a:xfrm>
            <a:off x="8641080" y="534924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 Dashboard — attack-success-rate chart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23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23"/>
          <p:cNvSpPr txBox="1"/>
          <p:nvPr/>
        </p:nvSpPr>
        <p:spPr>
          <a:xfrm>
            <a:off x="11247120" y="64190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9" name="Google Shape;75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825" y="1784625"/>
            <a:ext cx="7170344" cy="45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ef89d5f8a8_0_4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g3ef89d5f8a8_0_41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g3ef89d5f8a8_0_41"/>
          <p:cNvSpPr/>
          <p:nvPr/>
        </p:nvSpPr>
        <p:spPr>
          <a:xfrm>
            <a:off x="0" y="6775704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g3ef89d5f8a8_0_41"/>
          <p:cNvSpPr txBox="1"/>
          <p:nvPr/>
        </p:nvSpPr>
        <p:spPr>
          <a:xfrm>
            <a:off x="548640" y="310896"/>
            <a:ext cx="10515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🖥️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THE APP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g3ef89d5f8a8_0_41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Attack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g3ef89d5f8a8_0_41"/>
          <p:cNvSpPr/>
          <p:nvPr/>
        </p:nvSpPr>
        <p:spPr>
          <a:xfrm>
            <a:off x="566928" y="1371600"/>
            <a:ext cx="640200" cy="507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g3ef89d5f8a8_0_41"/>
          <p:cNvSpPr txBox="1"/>
          <p:nvPr/>
        </p:nvSpPr>
        <p:spPr>
          <a:xfrm>
            <a:off x="566928" y="1481328"/>
            <a:ext cx="1078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Run Attack with no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g3ef89d5f8a8_0_41"/>
          <p:cNvSpPr/>
          <p:nvPr/>
        </p:nvSpPr>
        <p:spPr>
          <a:xfrm>
            <a:off x="8412480" y="1783080"/>
            <a:ext cx="3291900" cy="45264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g3ef89d5f8a8_0_41"/>
          <p:cNvSpPr txBox="1"/>
          <p:nvPr/>
        </p:nvSpPr>
        <p:spPr>
          <a:xfrm>
            <a:off x="8641080" y="1965960"/>
            <a:ext cx="28803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 DOCS : LLM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g3ef89d5f8a8_0_41"/>
          <p:cNvSpPr txBox="1"/>
          <p:nvPr/>
        </p:nvSpPr>
        <p:spPr>
          <a:xfrm>
            <a:off x="8641080" y="2496312"/>
            <a:ext cx="2834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 returns incorrect answer as per the poisoned docs (KB)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g3ef89d5f8a8_0_41"/>
          <p:cNvSpPr txBox="1"/>
          <p:nvPr/>
        </p:nvSpPr>
        <p:spPr>
          <a:xfrm>
            <a:off x="8641080" y="3209544"/>
            <a:ext cx="2834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B6CB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Plain RAG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g3ef89d5f8a8_0_41"/>
          <p:cNvSpPr txBox="1"/>
          <p:nvPr/>
        </p:nvSpPr>
        <p:spPr>
          <a:xfrm>
            <a:off x="502920" y="6437376"/>
            <a:ext cx="914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g3ef89d5f8a8_0_41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7" name="Google Shape;777;g3ef89d5f8a8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350" y="1838643"/>
            <a:ext cx="7005500" cy="4391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24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24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24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24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 Turned 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24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24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poisoned KB — now the 3-ring defense is engaged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24" title="WhatsApp Image 2026-06-28 at 9.39.57 PM (1).jpeg"/>
          <p:cNvPicPr preferRelativeResize="0"/>
          <p:nvPr/>
        </p:nvPicPr>
        <p:blipFill rotWithShape="1">
          <a:blip r:embed="rId3">
            <a:alphaModFix/>
          </a:blip>
          <a:srcRect b="0" l="2390" r="2399" t="0"/>
          <a:stretch/>
        </p:blipFill>
        <p:spPr>
          <a:xfrm>
            <a:off x="600325" y="1783075"/>
            <a:ext cx="7628224" cy="4317600"/>
          </a:xfrm>
          <a:prstGeom prst="rect">
            <a:avLst/>
          </a:prstGeom>
          <a:noFill/>
          <a:ln cap="flat" cmpd="sng" w="1587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90" name="Google Shape;790;p24"/>
          <p:cNvSpPr/>
          <p:nvPr/>
        </p:nvSpPr>
        <p:spPr>
          <a:xfrm>
            <a:off x="8412480" y="1783080"/>
            <a:ext cx="3291840" cy="45262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24"/>
          <p:cNvSpPr txBox="1"/>
          <p:nvPr/>
        </p:nvSpPr>
        <p:spPr>
          <a:xfrm>
            <a:off x="8641080" y="1965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RING-BY-RING TRACE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24"/>
          <p:cNvSpPr txBox="1"/>
          <p:nvPr/>
        </p:nvSpPr>
        <p:spPr>
          <a:xfrm>
            <a:off x="8641080" y="2496312"/>
            <a:ext cx="2834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 · Ingest Guard — blocked 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poison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24"/>
          <p:cNvSpPr txBox="1"/>
          <p:nvPr/>
        </p:nvSpPr>
        <p:spPr>
          <a:xfrm>
            <a:off x="8641080" y="3209544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 · Retrieval Scorer — dropped low-trust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24"/>
          <p:cNvSpPr txBox="1"/>
          <p:nvPr/>
        </p:nvSpPr>
        <p:spPr>
          <a:xfrm>
            <a:off x="8641080" y="3922776"/>
            <a:ext cx="2834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 · Cross-LLM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(Claude, Mistral, Ollama)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panel agreement 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24"/>
          <p:cNvSpPr txBox="1"/>
          <p:nvPr/>
        </p:nvSpPr>
        <p:spPr>
          <a:xfrm>
            <a:off x="8641080" y="4636008"/>
            <a:ext cx="28347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Final answer restored: “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Martin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</a:t>
            </a:r>
            <a:r>
              <a:rPr lang="en-US" sz="120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berhard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24"/>
          <p:cNvSpPr txBox="1"/>
          <p:nvPr/>
        </p:nvSpPr>
        <p:spPr>
          <a:xfrm>
            <a:off x="8641080" y="534924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Verdict: DEFENDED 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24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24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3ef89d5f8a8_0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g3ef89d5f8a8_0_0"/>
          <p:cNvSpPr/>
          <p:nvPr/>
        </p:nvSpPr>
        <p:spPr>
          <a:xfrm>
            <a:off x="0" y="6775704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g3ef89d5f8a8_0_0"/>
          <p:cNvSpPr txBox="1"/>
          <p:nvPr/>
        </p:nvSpPr>
        <p:spPr>
          <a:xfrm>
            <a:off x="548640" y="310896"/>
            <a:ext cx="10515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🛡️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g3ef89d5f8a8_0_0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Comparison: Poisoned vs Shielded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g3ef89d5f8a8_0_0"/>
          <p:cNvSpPr/>
          <p:nvPr/>
        </p:nvSpPr>
        <p:spPr>
          <a:xfrm>
            <a:off x="566928" y="1371600"/>
            <a:ext cx="640200" cy="507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g3ef89d5f8a8_0_0"/>
          <p:cNvSpPr txBox="1"/>
          <p:nvPr/>
        </p:nvSpPr>
        <p:spPr>
          <a:xfrm>
            <a:off x="566928" y="1481328"/>
            <a:ext cx="1078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retrieved answer compared with the Non-defense vs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g3ef89d5f8a8_0_0"/>
          <p:cNvSpPr txBox="1"/>
          <p:nvPr/>
        </p:nvSpPr>
        <p:spPr>
          <a:xfrm>
            <a:off x="502920" y="6437376"/>
            <a:ext cx="914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g3ef89d5f8a8_0_0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1" name="Google Shape;811;g3ef89d5f8a8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175" y="1965950"/>
            <a:ext cx="7622025" cy="40131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5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5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25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🔬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FORENSICS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5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Each Doc Was Flagged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25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5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Per-document verdicts from all three rings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orensic explorer.jpeg" id="823" name="Google Shape;82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927" y="1783080"/>
            <a:ext cx="7220386" cy="4526280"/>
          </a:xfrm>
          <a:prstGeom prst="rect">
            <a:avLst/>
          </a:prstGeom>
          <a:noFill/>
          <a:ln cap="flat" cmpd="sng" w="1587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4" name="Google Shape;824;p25"/>
          <p:cNvSpPr/>
          <p:nvPr/>
        </p:nvSpPr>
        <p:spPr>
          <a:xfrm>
            <a:off x="8412480" y="1783080"/>
            <a:ext cx="3291840" cy="45262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5"/>
          <p:cNvSpPr txBox="1"/>
          <p:nvPr/>
        </p:nvSpPr>
        <p:spPr>
          <a:xfrm>
            <a:off x="8641080" y="1965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YOU SEE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25"/>
          <p:cNvSpPr txBox="1"/>
          <p:nvPr/>
        </p:nvSpPr>
        <p:spPr>
          <a:xfrm>
            <a:off x="8641080" y="2496312"/>
            <a:ext cx="28347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retrieved doc → ring-by-ring verdict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7" name="Google Shape;827;p25"/>
          <p:cNvSpPr txBox="1"/>
          <p:nvPr/>
        </p:nvSpPr>
        <p:spPr>
          <a:xfrm>
            <a:off x="8641080" y="3209544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1: perplexity · pattern · outlier · blocked?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8" name="Google Shape;828;p25"/>
          <p:cNvSpPr txBox="1"/>
          <p:nvPr/>
        </p:nvSpPr>
        <p:spPr>
          <a:xfrm>
            <a:off x="8641080" y="3922776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2: provenance · consistency · trust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25"/>
          <p:cNvSpPr txBox="1"/>
          <p:nvPr/>
        </p:nvSpPr>
        <p:spPr>
          <a:xfrm>
            <a:off x="8641080" y="4636008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Ring 3: each LLM’s answer + agreement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25"/>
          <p:cNvSpPr txBox="1"/>
          <p:nvPr/>
        </p:nvSpPr>
        <p:spPr>
          <a:xfrm>
            <a:off x="8641080" y="534924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6A4C9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Clean doc kept · 4 poison docs blocked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25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25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6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6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26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📊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26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80% → 0% Attack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26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6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Attack-success-rate computed live over the demo’s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ashboard.jpeg" id="844" name="Google Shape;8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927" y="1783080"/>
            <a:ext cx="7220386" cy="4526280"/>
          </a:xfrm>
          <a:prstGeom prst="rect">
            <a:avLst/>
          </a:prstGeom>
          <a:noFill/>
          <a:ln cap="flat" cmpd="sng" w="1587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5" name="Google Shape;845;p26"/>
          <p:cNvSpPr/>
          <p:nvPr/>
        </p:nvSpPr>
        <p:spPr>
          <a:xfrm>
            <a:off x="8412480" y="1783080"/>
            <a:ext cx="3291840" cy="452628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6"/>
          <p:cNvSpPr txBox="1"/>
          <p:nvPr/>
        </p:nvSpPr>
        <p:spPr>
          <a:xfrm>
            <a:off x="8641080" y="1965960"/>
            <a:ext cx="2880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NUMBERS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7" name="Google Shape;847;p26"/>
          <p:cNvSpPr txBox="1"/>
          <p:nvPr/>
        </p:nvSpPr>
        <p:spPr>
          <a:xfrm>
            <a:off x="8641080" y="2496312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 Defense → 80% ASR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8" name="Google Shape;848;p26"/>
          <p:cNvSpPr txBox="1"/>
          <p:nvPr/>
        </p:nvSpPr>
        <p:spPr>
          <a:xfrm>
            <a:off x="8641080" y="3209544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 → 0% ASR  (−80 pts)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9" name="Google Shape;849;p26"/>
          <p:cNvSpPr txBox="1"/>
          <p:nvPr/>
        </p:nvSpPr>
        <p:spPr>
          <a:xfrm>
            <a:off x="8641080" y="3922776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Poisoned: “Nikola Jones founded Tesla”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0" name="Google Shape;850;p26"/>
          <p:cNvSpPr txBox="1"/>
          <p:nvPr/>
        </p:nvSpPr>
        <p:spPr>
          <a:xfrm>
            <a:off x="8641080" y="4636008"/>
            <a:ext cx="28347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Restored: “Martin Eberhard”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26"/>
          <p:cNvSpPr txBox="1"/>
          <p:nvPr/>
        </p:nvSpPr>
        <p:spPr>
          <a:xfrm>
            <a:off x="8641080" y="5349240"/>
            <a:ext cx="2834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 </a:t>
            </a:r>
            <a:r>
              <a:rPr b="0" i="0" lang="en-US" sz="12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Holds across the target questions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26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26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2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7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7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7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🧾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LIVE DEMO · UNDER THE HOOD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27"/>
          <p:cNvSpPr txBox="1"/>
          <p:nvPr/>
        </p:nvSpPr>
        <p:spPr>
          <a:xfrm>
            <a:off x="530352" y="676656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Logs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27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7"/>
          <p:cNvSpPr txBox="1"/>
          <p:nvPr/>
        </p:nvSpPr>
        <p:spPr>
          <a:xfrm>
            <a:off x="566928" y="1481328"/>
            <a:ext cx="1078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Stacktraces</a:t>
            </a: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— live </a:t>
            </a: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log </a:t>
            </a: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traces from the </a:t>
            </a: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s 2.jpeg" id="865" name="Google Shape;86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919668"/>
            <a:ext cx="5486400" cy="3439287"/>
          </a:xfrm>
          <a:prstGeom prst="rect">
            <a:avLst/>
          </a:prstGeom>
          <a:noFill/>
          <a:ln cap="flat" cmpd="sng" w="1587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logs.jpeg" id="866" name="Google Shape;86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1905338"/>
            <a:ext cx="5532120" cy="3467947"/>
          </a:xfrm>
          <a:prstGeom prst="rect">
            <a:avLst/>
          </a:prstGeom>
          <a:noFill/>
          <a:ln cap="flat" cmpd="sng" w="15875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7" name="Google Shape;867;p27"/>
          <p:cNvSpPr txBox="1"/>
          <p:nvPr/>
        </p:nvSpPr>
        <p:spPr>
          <a:xfrm>
            <a:off x="548640" y="55321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App run · Streamlit on :8502 · DEMO_MODE=0 (live)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27"/>
          <p:cNvSpPr txBox="1"/>
          <p:nvPr/>
        </p:nvSpPr>
        <p:spPr>
          <a:xfrm>
            <a:off x="6172200" y="5532120"/>
            <a:ext cx="5532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1" lang="en-US" sz="10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Backend request log · per-query timing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27"/>
          <p:cNvSpPr/>
          <p:nvPr/>
        </p:nvSpPr>
        <p:spPr>
          <a:xfrm>
            <a:off x="502920" y="5897880"/>
            <a:ext cx="11201400" cy="438912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lang="en-US" sz="115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Stackt</a:t>
            </a:r>
            <a:r>
              <a:rPr b="1" i="0" lang="en-US" sz="11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race:  </a:t>
            </a:r>
            <a:r>
              <a:rPr b="0" i="0" lang="en-US" sz="11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QUERY </a:t>
            </a:r>
            <a:r>
              <a:rPr b="0" i="0" lang="en-US" sz="11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‘Who founded Tesla?’ (defense=OFF) → ‘Nikola Jones’ ✗   ·   (defense=ON) → Ring 1 blocked 5 poison → re-retrieved clean → ‘Martin Eberhard’ ✓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27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27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2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28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8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8"/>
          <p:cNvSpPr txBox="1"/>
          <p:nvPr/>
        </p:nvSpPr>
        <p:spPr>
          <a:xfrm>
            <a:off x="548640" y="231521"/>
            <a:ext cx="10515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950">
                <a:solidFill>
                  <a:srgbClr val="D7BA7D"/>
                </a:solidFill>
                <a:latin typeface="Courier New"/>
                <a:ea typeface="Courier New"/>
                <a:cs typeface="Courier New"/>
                <a:sym typeface="Courier New"/>
              </a:rPr>
              <a:t>🔬</a:t>
            </a:r>
            <a:r>
              <a:rPr lang="en-US" sz="1100">
                <a:solidFill>
                  <a:schemeClr val="dk1"/>
                </a:solidFill>
              </a:rPr>
              <a:t> </a:t>
            </a: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 </a:t>
            </a:r>
            <a:r>
              <a:rPr b="1" lang="en-US" sz="125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LIVE DEMO · THE EXPERIMENTAL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28"/>
          <p:cNvSpPr txBox="1"/>
          <p:nvPr/>
        </p:nvSpPr>
        <p:spPr>
          <a:xfrm>
            <a:off x="530352" y="507984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Flow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28"/>
          <p:cNvSpPr/>
          <p:nvPr/>
        </p:nvSpPr>
        <p:spPr>
          <a:xfrm>
            <a:off x="606615" y="1054100"/>
            <a:ext cx="640200" cy="507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28"/>
          <p:cNvSpPr txBox="1"/>
          <p:nvPr/>
        </p:nvSpPr>
        <p:spPr>
          <a:xfrm>
            <a:off x="566928" y="1173750"/>
            <a:ext cx="107898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Dashboard to Code to Number: baseline </a:t>
            </a:r>
            <a:b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i="1" lang="en-US" sz="145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vs. defense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28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28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5" name="Google Shape;885;p28"/>
          <p:cNvPicPr preferRelativeResize="0"/>
          <p:nvPr/>
        </p:nvPicPr>
        <p:blipFill rotWithShape="1">
          <a:blip r:embed="rId3">
            <a:alphaModFix/>
          </a:blip>
          <a:srcRect b="0" l="0" r="0" t="3484"/>
          <a:stretch/>
        </p:blipFill>
        <p:spPr>
          <a:xfrm>
            <a:off x="6117862" y="1168903"/>
            <a:ext cx="3477276" cy="503400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886" name="Google Shape;886;p28"/>
          <p:cNvSpPr/>
          <p:nvPr/>
        </p:nvSpPr>
        <p:spPr>
          <a:xfrm>
            <a:off x="751423" y="2063541"/>
            <a:ext cx="4069200" cy="36576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28"/>
          <p:cNvSpPr txBox="1"/>
          <p:nvPr/>
        </p:nvSpPr>
        <p:spPr>
          <a:xfrm>
            <a:off x="1025743" y="2303287"/>
            <a:ext cx="35661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EVALUATION METRICS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28"/>
          <p:cNvSpPr txBox="1"/>
          <p:nvPr/>
        </p:nvSpPr>
        <p:spPr>
          <a:xfrm>
            <a:off x="1025743" y="2749341"/>
            <a:ext cx="35661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Evaluates the pipeline over 10 target queries.</a:t>
            </a:r>
            <a:endParaRPr sz="1350">
              <a:solidFill>
                <a:srgbClr val="222A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1" lang="en-US" sz="1500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Attack ASR: 80% success rate.</a:t>
            </a:r>
            <a:b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500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 ASR: 0% success rate</a:t>
            </a:r>
            <a:b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500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Performance Delta: -80% reduction in attack success.</a:t>
            </a:r>
            <a:b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500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Consensus Panel: Validated across </a:t>
            </a:r>
            <a:r>
              <a:rPr b="1"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CMO</a:t>
            </a:r>
            <a:b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lang="en-US" sz="1500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Safety: Benign-query accuracy remains fully preserved.</a:t>
            </a:r>
            <a:endParaRPr sz="1350">
              <a:solidFill>
                <a:srgbClr val="222A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350">
              <a:solidFill>
                <a:srgbClr val="222A37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3f2b9963103_0_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g3f2b9963103_0_0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g3f2b9963103_0_0"/>
          <p:cNvSpPr/>
          <p:nvPr/>
        </p:nvSpPr>
        <p:spPr>
          <a:xfrm>
            <a:off x="0" y="6775704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g3f2b9963103_0_0"/>
          <p:cNvSpPr txBox="1"/>
          <p:nvPr/>
        </p:nvSpPr>
        <p:spPr>
          <a:xfrm>
            <a:off x="548640" y="310896"/>
            <a:ext cx="105156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🏆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 6 · THE PAYOFF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7" name="Google Shape;897;g3f2b9963103_0_0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g3f2b9963103_0_0"/>
          <p:cNvSpPr/>
          <p:nvPr/>
        </p:nvSpPr>
        <p:spPr>
          <a:xfrm>
            <a:off x="566928" y="1371600"/>
            <a:ext cx="640200" cy="507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g3f2b9963103_0_0"/>
          <p:cNvSpPr txBox="1"/>
          <p:nvPr/>
        </p:nvSpPr>
        <p:spPr>
          <a:xfrm>
            <a:off x="566928" y="1481328"/>
            <a:ext cx="107898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 slashes attack 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g3f2b9963103_0_0"/>
          <p:cNvSpPr/>
          <p:nvPr/>
        </p:nvSpPr>
        <p:spPr>
          <a:xfrm>
            <a:off x="1371600" y="2732228"/>
            <a:ext cx="1554600" cy="2662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g3f2b9963103_0_0"/>
          <p:cNvSpPr txBox="1"/>
          <p:nvPr/>
        </p:nvSpPr>
        <p:spPr>
          <a:xfrm>
            <a:off x="1188720" y="2275028"/>
            <a:ext cx="1920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C0392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g3f2b9963103_0_0"/>
          <p:cNvSpPr txBox="1"/>
          <p:nvPr/>
        </p:nvSpPr>
        <p:spPr>
          <a:xfrm>
            <a:off x="1097280" y="5486400"/>
            <a:ext cx="21030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attack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g3f2b9963103_0_0"/>
          <p:cNvSpPr/>
          <p:nvPr/>
        </p:nvSpPr>
        <p:spPr>
          <a:xfrm>
            <a:off x="3566160" y="4546397"/>
            <a:ext cx="1554600" cy="848700"/>
          </a:xfrm>
          <a:prstGeom prst="roundRect">
            <a:avLst>
              <a:gd fmla="val 16667" name="adj"/>
            </a:avLst>
          </a:prstGeom>
          <a:solidFill>
            <a:srgbClr val="E6A81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g3f2b9963103_0_0"/>
          <p:cNvSpPr txBox="1"/>
          <p:nvPr/>
        </p:nvSpPr>
        <p:spPr>
          <a:xfrm>
            <a:off x="3383280" y="4089197"/>
            <a:ext cx="1920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E6A81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g3f2b9963103_0_0"/>
          <p:cNvSpPr txBox="1"/>
          <p:nvPr/>
        </p:nvSpPr>
        <p:spPr>
          <a:xfrm>
            <a:off x="3291840" y="5486400"/>
            <a:ext cx="21030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Paper's defenses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g3f2b9963103_0_0"/>
          <p:cNvSpPr/>
          <p:nvPr/>
        </p:nvSpPr>
        <p:spPr>
          <a:xfrm>
            <a:off x="5760720" y="5014570"/>
            <a:ext cx="1554600" cy="380400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g3f2b9963103_0_0"/>
          <p:cNvSpPr txBox="1"/>
          <p:nvPr/>
        </p:nvSpPr>
        <p:spPr>
          <a:xfrm>
            <a:off x="5577840" y="4557370"/>
            <a:ext cx="19203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g3f2b9963103_0_0"/>
          <p:cNvSpPr txBox="1"/>
          <p:nvPr/>
        </p:nvSpPr>
        <p:spPr>
          <a:xfrm>
            <a:off x="5486400" y="5486400"/>
            <a:ext cx="21030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 (ours)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9" name="Google Shape;909;g3f2b9963103_0_0"/>
          <p:cNvCxnSpPr/>
          <p:nvPr/>
        </p:nvCxnSpPr>
        <p:spPr>
          <a:xfrm>
            <a:off x="1005840" y="5394960"/>
            <a:ext cx="5852100" cy="0"/>
          </a:xfrm>
          <a:prstGeom prst="straightConnector1">
            <a:avLst/>
          </a:prstGeom>
          <a:noFill/>
          <a:ln cap="flat" cmpd="sng" w="19050">
            <a:solidFill>
              <a:srgbClr val="6B72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g3f2b9963103_0_0"/>
          <p:cNvSpPr/>
          <p:nvPr/>
        </p:nvSpPr>
        <p:spPr>
          <a:xfrm>
            <a:off x="7589520" y="2148840"/>
            <a:ext cx="4069200" cy="36576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g3f2b9963103_0_0"/>
          <p:cNvSpPr txBox="1"/>
          <p:nvPr/>
        </p:nvSpPr>
        <p:spPr>
          <a:xfrm>
            <a:off x="7863840" y="2331720"/>
            <a:ext cx="3566100" cy="2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THE NUMBERS SAY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g3f2b9963103_0_0"/>
          <p:cNvSpPr txBox="1"/>
          <p:nvPr/>
        </p:nvSpPr>
        <p:spPr>
          <a:xfrm>
            <a:off x="7863840" y="2834640"/>
            <a:ext cx="3566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attack: 91% success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g3f2b9963103_0_0"/>
          <p:cNvSpPr txBox="1"/>
          <p:nvPr/>
        </p:nvSpPr>
        <p:spPr>
          <a:xfrm>
            <a:off x="7863840" y="3383280"/>
            <a:ext cx="3566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Paper's defenses leave 29%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g3f2b9963103_0_0"/>
          <p:cNvSpPr txBox="1"/>
          <p:nvPr/>
        </p:nvSpPr>
        <p:spPr>
          <a:xfrm>
            <a:off x="7863840" y="3931920"/>
            <a:ext cx="3566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RAG-Shield: down to 13%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g3f2b9963103_0_0"/>
          <p:cNvSpPr txBox="1"/>
          <p:nvPr/>
        </p:nvSpPr>
        <p:spPr>
          <a:xfrm>
            <a:off x="7863840" y="4480560"/>
            <a:ext cx="3566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Holds across Claude,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Mistral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LLaMA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g3f2b9963103_0_0"/>
          <p:cNvSpPr txBox="1"/>
          <p:nvPr/>
        </p:nvSpPr>
        <p:spPr>
          <a:xfrm>
            <a:off x="7863840" y="5029200"/>
            <a:ext cx="3566100" cy="25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Benign-query accuracy preserved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g3f2b9963103_0_0"/>
          <p:cNvSpPr txBox="1"/>
          <p:nvPr/>
        </p:nvSpPr>
        <p:spPr>
          <a:xfrm>
            <a:off x="502920" y="6437376"/>
            <a:ext cx="914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g3f2b9963103_0_0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2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29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9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9"/>
          <p:cNvSpPr txBox="1"/>
          <p:nvPr/>
        </p:nvSpPr>
        <p:spPr>
          <a:xfrm>
            <a:off x="548640" y="31089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🎯   </a:t>
            </a:r>
            <a:r>
              <a:rPr b="1" i="0" lang="en-US" sz="12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WRAP-UP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29"/>
          <p:cNvSpPr txBox="1"/>
          <p:nvPr/>
        </p:nvSpPr>
        <p:spPr>
          <a:xfrm>
            <a:off x="530352" y="676656"/>
            <a:ext cx="10972800" cy="533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Conclusion &amp; 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29"/>
          <p:cNvSpPr/>
          <p:nvPr/>
        </p:nvSpPr>
        <p:spPr>
          <a:xfrm>
            <a:off x="566928" y="1371600"/>
            <a:ext cx="640080" cy="50800"/>
          </a:xfrm>
          <a:prstGeom prst="roundRect">
            <a:avLst>
              <a:gd fmla="val 16667" name="adj"/>
            </a:avLst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29"/>
          <p:cNvSpPr txBox="1"/>
          <p:nvPr/>
        </p:nvSpPr>
        <p:spPr>
          <a:xfrm>
            <a:off x="566928" y="1481328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1" lang="en-US" sz="145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did, and where it goes next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29"/>
          <p:cNvSpPr/>
          <p:nvPr/>
        </p:nvSpPr>
        <p:spPr>
          <a:xfrm>
            <a:off x="502920" y="2148840"/>
            <a:ext cx="5440680" cy="374903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9"/>
          <p:cNvSpPr/>
          <p:nvPr/>
        </p:nvSpPr>
        <p:spPr>
          <a:xfrm>
            <a:off x="502920" y="2148840"/>
            <a:ext cx="118872" cy="3749039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9"/>
          <p:cNvSpPr txBox="1"/>
          <p:nvPr/>
        </p:nvSpPr>
        <p:spPr>
          <a:xfrm>
            <a:off x="777240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WE DID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29"/>
          <p:cNvSpPr txBox="1"/>
          <p:nvPr/>
        </p:nvSpPr>
        <p:spPr>
          <a:xfrm>
            <a:off x="868680" y="283464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Reproduced the PoisonedRAG attack on our own KB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29"/>
          <p:cNvSpPr txBox="1"/>
          <p:nvPr/>
        </p:nvSpPr>
        <p:spPr>
          <a:xfrm>
            <a:off x="868680" y="3401568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Identified the gap: single-layer defenses fail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29"/>
          <p:cNvSpPr txBox="1"/>
          <p:nvPr/>
        </p:nvSpPr>
        <p:spPr>
          <a:xfrm>
            <a:off x="868680" y="3968496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Designed RAG-Shield: 3-ring defense-in-depth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29"/>
          <p:cNvSpPr txBox="1"/>
          <p:nvPr/>
        </p:nvSpPr>
        <p:spPr>
          <a:xfrm>
            <a:off x="868680" y="4535424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Implemented &amp; demonstrated it live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29"/>
          <p:cNvSpPr txBox="1"/>
          <p:nvPr/>
        </p:nvSpPr>
        <p:spPr>
          <a:xfrm>
            <a:off x="868680" y="5102352"/>
            <a:ext cx="4937700" cy="2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2E8B5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✓  </a:t>
            </a:r>
            <a:r>
              <a:rPr lang="en-US" sz="1350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attack success from 90% to 13%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29"/>
          <p:cNvSpPr/>
          <p:nvPr/>
        </p:nvSpPr>
        <p:spPr>
          <a:xfrm>
            <a:off x="6245352" y="2148840"/>
            <a:ext cx="5440680" cy="374903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DE2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9" name="Google Shape;939;p29"/>
          <p:cNvSpPr/>
          <p:nvPr/>
        </p:nvSpPr>
        <p:spPr>
          <a:xfrm>
            <a:off x="6245352" y="2148840"/>
            <a:ext cx="118872" cy="3749039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0" name="Google Shape;940;p29"/>
          <p:cNvSpPr txBox="1"/>
          <p:nvPr/>
        </p:nvSpPr>
        <p:spPr>
          <a:xfrm>
            <a:off x="6519672" y="233172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FUTURE 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29"/>
          <p:cNvSpPr txBox="1"/>
          <p:nvPr/>
        </p:nvSpPr>
        <p:spPr>
          <a:xfrm>
            <a:off x="6611112" y="2834640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Test against adaptive attackers who know RAG-Shield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29"/>
          <p:cNvSpPr txBox="1"/>
          <p:nvPr/>
        </p:nvSpPr>
        <p:spPr>
          <a:xfrm>
            <a:off x="6611112" y="3401568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Scale to million-document knowledge bases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29"/>
          <p:cNvSpPr txBox="1"/>
          <p:nvPr/>
        </p:nvSpPr>
        <p:spPr>
          <a:xfrm>
            <a:off x="6611112" y="3968496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Reduce latency / API cost of Ring 3 consensus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29"/>
          <p:cNvSpPr txBox="1"/>
          <p:nvPr/>
        </p:nvSpPr>
        <p:spPr>
          <a:xfrm>
            <a:off x="6611112" y="4535424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Defend cross-function &amp; read-only variants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29"/>
          <p:cNvSpPr txBox="1"/>
          <p:nvPr/>
        </p:nvSpPr>
        <p:spPr>
          <a:xfrm>
            <a:off x="6611112" y="5102352"/>
            <a:ext cx="49377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 </a:t>
            </a:r>
            <a:r>
              <a:rPr b="0" i="0" lang="en-US" sz="1350" u="none" cap="none" strike="noStrike">
                <a:solidFill>
                  <a:srgbClr val="222A37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Real-time deployment as a RAG middleware layer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29"/>
          <p:cNvSpPr txBox="1"/>
          <p:nvPr/>
        </p:nvSpPr>
        <p:spPr>
          <a:xfrm>
            <a:off x="502920" y="6437376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29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3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3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30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30"/>
          <p:cNvSpPr/>
          <p:nvPr/>
        </p:nvSpPr>
        <p:spPr>
          <a:xfrm>
            <a:off x="0" y="0"/>
            <a:ext cx="12191700" cy="1525800"/>
          </a:xfrm>
          <a:prstGeom prst="rect">
            <a:avLst/>
          </a:prstGeom>
          <a:solidFill>
            <a:srgbClr val="16243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3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30"/>
          <p:cNvSpPr txBox="1"/>
          <p:nvPr/>
        </p:nvSpPr>
        <p:spPr>
          <a:xfrm>
            <a:off x="541854" y="467132"/>
            <a:ext cx="82296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Contributions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30"/>
          <p:cNvSpPr txBox="1"/>
          <p:nvPr/>
        </p:nvSpPr>
        <p:spPr>
          <a:xfrm>
            <a:off x="7955279" y="1160100"/>
            <a:ext cx="3657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7D0D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6 · CSL6010 ·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30"/>
          <p:cNvSpPr txBox="1"/>
          <p:nvPr/>
        </p:nvSpPr>
        <p:spPr>
          <a:xfrm>
            <a:off x="548640" y="1749267"/>
            <a:ext cx="7315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30"/>
          <p:cNvSpPr txBox="1"/>
          <p:nvPr/>
        </p:nvSpPr>
        <p:spPr>
          <a:xfrm>
            <a:off x="548640" y="2542032"/>
            <a:ext cx="56694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30"/>
          <p:cNvSpPr txBox="1"/>
          <p:nvPr/>
        </p:nvSpPr>
        <p:spPr>
          <a:xfrm>
            <a:off x="502920" y="6437376"/>
            <a:ext cx="91440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30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3" name="Google Shape;963;p30"/>
          <p:cNvGraphicFramePr/>
          <p:nvPr/>
        </p:nvGraphicFramePr>
        <p:xfrm>
          <a:off x="548653" y="17674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{2267038A-327A-42F9-987E-64D408A2C84A}</a:tableStyleId>
              </a:tblPr>
              <a:tblGrid>
                <a:gridCol w="2225850"/>
                <a:gridCol w="1645875"/>
                <a:gridCol w="6818600"/>
              </a:tblGrid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MEMBER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CONTRIBUTION (STORY ACT PROJECT WORK)</a:t>
                      </a:r>
                      <a:endParaRPr b="1"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Jeenal Chaudhary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G25AIT2027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 fundamentals &amp; pipeline (Act 1); intro + background research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Amit Singh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G25AIT2007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Threat model &amp; problem framing (Act 2); attacker assumptions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Sharvan Vittala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G25AIT2099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Attack mechanics, poison crafting (Act 3); Ring 1 design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Sudeb Ghosh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G25AIT2113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Black/white-box attack deep-dive (Act 3); adversarial test cases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3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Kosuru Yuvaraj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G25AIT2054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Damage analysis &amp; the gap (Acts 4-5); Ring 2 design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9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Pujan Chakraborty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G25AIT2076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RAG-Shield 3-ring design &amp; blueprint (Act 6); evaluation methodology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Rohit Patel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G25AIT2089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System architecture &amp; Implementation; live demo (Act 6)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Vishnu Priya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G25AIT2128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Frontend/Ul review; results consolidation &amp; report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Disha Singhania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G25AIT2031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Environment setup &amp; testing; demo validation; documentation</a:t>
                      </a:r>
                      <a:endParaRPr sz="13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50800" marB="50800" marR="50800" marL="50800">
                    <a:lnL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925">
                      <a:solidFill>
                        <a:srgbClr val="A3A3A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3f268e99c3e_0_11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g3f268e99c3e_0_11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g3f268e99c3e_0_11"/>
          <p:cNvSpPr/>
          <p:nvPr/>
        </p:nvSpPr>
        <p:spPr>
          <a:xfrm>
            <a:off x="0" y="6775704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g3f268e99c3e_0_11"/>
          <p:cNvSpPr/>
          <p:nvPr/>
        </p:nvSpPr>
        <p:spPr>
          <a:xfrm>
            <a:off x="0" y="0"/>
            <a:ext cx="12191700" cy="1525800"/>
          </a:xfrm>
          <a:prstGeom prst="rect">
            <a:avLst/>
          </a:prstGeom>
          <a:solidFill>
            <a:srgbClr val="16243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g3f268e99c3e_0_11"/>
          <p:cNvSpPr/>
          <p:nvPr/>
        </p:nvSpPr>
        <p:spPr>
          <a:xfrm>
            <a:off x="0" y="0"/>
            <a:ext cx="12191700" cy="82200"/>
          </a:xfrm>
          <a:prstGeom prst="rect">
            <a:avLst/>
          </a:prstGeom>
          <a:solidFill>
            <a:srgbClr val="C0900F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g3f268e99c3e_0_11"/>
          <p:cNvSpPr txBox="1"/>
          <p:nvPr/>
        </p:nvSpPr>
        <p:spPr>
          <a:xfrm>
            <a:off x="676655" y="433431"/>
            <a:ext cx="8229600" cy="81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51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Thank You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4" name="Google Shape;974;g3f268e99c3e_0_11"/>
          <p:cNvSpPr txBox="1"/>
          <p:nvPr/>
        </p:nvSpPr>
        <p:spPr>
          <a:xfrm>
            <a:off x="676656" y="2781259"/>
            <a:ext cx="82296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700" lIns="25400" spcFirstLastPara="1" rIns="254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1" lang="en-US" sz="3600" u="none" cap="none" strike="noStrike">
                <a:solidFill>
                  <a:schemeClr val="dk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Questions?</a:t>
            </a:r>
            <a:endParaRPr b="0" i="0" sz="3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g3f268e99c3e_0_11"/>
          <p:cNvSpPr txBox="1"/>
          <p:nvPr/>
        </p:nvSpPr>
        <p:spPr>
          <a:xfrm>
            <a:off x="7955279" y="1160100"/>
            <a:ext cx="36576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C7D0D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GROUP 6 · CSL6010 ·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g3f268e99c3e_0_11"/>
          <p:cNvSpPr txBox="1"/>
          <p:nvPr/>
        </p:nvSpPr>
        <p:spPr>
          <a:xfrm>
            <a:off x="548651" y="2080310"/>
            <a:ext cx="62466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7" name="Google Shape;977;g3f268e99c3e_0_11"/>
          <p:cNvSpPr/>
          <p:nvPr/>
        </p:nvSpPr>
        <p:spPr>
          <a:xfrm>
            <a:off x="620876" y="3808439"/>
            <a:ext cx="11183100" cy="951900"/>
          </a:xfrm>
          <a:prstGeom prst="roundRect">
            <a:avLst>
              <a:gd fmla="val 16667" name="adj"/>
            </a:avLst>
          </a:prstGeom>
          <a:solidFill>
            <a:srgbClr val="F2F5F9"/>
          </a:solidFill>
          <a:ln>
            <a:noFill/>
          </a:ln>
        </p:spPr>
        <p:txBody>
          <a:bodyPr anchorCtr="0" anchor="ctr" bIns="50800" lIns="76200" spcFirstLastPara="1" rIns="76200" wrap="square" tIns="508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Paper  </a:t>
            </a:r>
            <a:r>
              <a:rPr lang="en-US" sz="160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https://github.com/rpaut03l/poisonedrag-ragshield-group6-iitj/blob/main/paper/PoisonedRAG_USENIX2025.pdf</a:t>
            </a: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</a:t>
            </a:r>
            <a:endParaRPr b="1" i="0" sz="1600" u="none" cap="none" strike="noStrike">
              <a:solidFill>
                <a:srgbClr val="1624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Code   </a:t>
            </a:r>
            <a:r>
              <a:rPr lang="en-US" sz="160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https://github.com/rpaut03l/poisonedrag-ragshield-group6-iitj/tree/main</a:t>
            </a:r>
            <a:endParaRPr b="1" i="0" sz="1600" u="none" cap="none" strike="noStrike">
              <a:solidFill>
                <a:srgbClr val="16243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600" u="none" cap="none" strike="noStrike">
                <a:solidFill>
                  <a:srgbClr val="16243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Demo  </a:t>
            </a:r>
            <a:r>
              <a:rPr lang="en-US" sz="1600">
                <a:solidFill>
                  <a:srgbClr val="C0900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https://drive.google.com/file/d/1Wx9n1rTxnZH5auIzjSbWRFMt-wZDFwhL/view?usp=share_link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g3f268e99c3e_0_11"/>
          <p:cNvSpPr txBox="1"/>
          <p:nvPr/>
        </p:nvSpPr>
        <p:spPr>
          <a:xfrm>
            <a:off x="502920" y="6437376"/>
            <a:ext cx="91440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PoisonedRAG · RAG-Shield   ·   Group 6   ·   CSL6010 Cyber Security   ·   IIT Jodhpur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g3f268e99c3e_0_11"/>
          <p:cNvSpPr txBox="1"/>
          <p:nvPr/>
        </p:nvSpPr>
        <p:spPr>
          <a:xfrm>
            <a:off x="11247120" y="6419088"/>
            <a:ext cx="457200" cy="1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25400" spcFirstLastPara="1" rIns="25400" wrap="square" tIns="12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r>
              <a:rPr b="1" lang="en-US" sz="1000">
                <a:solidFill>
                  <a:srgbClr val="6B7280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